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Candara"/>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itTaSEyJn55ymR25uSoyXkvTh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andara-regular.fntdata"/><Relationship Id="rId14" Type="http://schemas.openxmlformats.org/officeDocument/2006/relationships/slide" Target="slides/slide10.xml"/><Relationship Id="rId17" Type="http://schemas.openxmlformats.org/officeDocument/2006/relationships/font" Target="fonts/Candara-italic.fntdata"/><Relationship Id="rId16" Type="http://schemas.openxmlformats.org/officeDocument/2006/relationships/font" Target="fonts/Candara-bold.fntdata"/><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Candara-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3" name="Google Shape;9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7" name="Google Shape;10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6" name="Google Shape;12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2" name="Google Shape;15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3" name="Google Shape;17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2" name="Google Shape;19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9" name="Google Shape;20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0" name="Google Shape;23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3" name="Google Shape;25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6" name="Google Shape;26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18" name="Shape 1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20" name="Shape 2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2"/>
          <p:cNvSpPr txBox="1"/>
          <p:nvPr>
            <p:ph type="ctrTitle"/>
          </p:nvPr>
        </p:nvSpPr>
        <p:spPr>
          <a:xfrm>
            <a:off x="1828800" y="1346836"/>
            <a:ext cx="10972800" cy="28651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7200"/>
              <a:buFont typeface="Calibri"/>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subTitle"/>
          </p:nvPr>
        </p:nvSpPr>
        <p:spPr>
          <a:xfrm>
            <a:off x="1828800" y="4322446"/>
            <a:ext cx="10972800" cy="198691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200"/>
              </a:spcBef>
              <a:spcAft>
                <a:spcPts val="0"/>
              </a:spcAft>
              <a:buClr>
                <a:schemeClr val="dk1"/>
              </a:buClr>
              <a:buSzPts val="2880"/>
              <a:buNone/>
              <a:defRPr sz="2880"/>
            </a:lvl1pPr>
            <a:lvl2pPr lvl="1" algn="ctr">
              <a:lnSpc>
                <a:spcPct val="90000"/>
              </a:lnSpc>
              <a:spcBef>
                <a:spcPts val="600"/>
              </a:spcBef>
              <a:spcAft>
                <a:spcPts val="0"/>
              </a:spcAft>
              <a:buClr>
                <a:schemeClr val="dk1"/>
              </a:buClr>
              <a:buSzPts val="2400"/>
              <a:buNone/>
              <a:defRPr sz="2400"/>
            </a:lvl2pPr>
            <a:lvl3pPr lvl="2" algn="ctr">
              <a:lnSpc>
                <a:spcPct val="90000"/>
              </a:lnSpc>
              <a:spcBef>
                <a:spcPts val="600"/>
              </a:spcBef>
              <a:spcAft>
                <a:spcPts val="0"/>
              </a:spcAft>
              <a:buClr>
                <a:schemeClr val="dk1"/>
              </a:buClr>
              <a:buSzPts val="2160"/>
              <a:buNone/>
              <a:defRPr sz="2160"/>
            </a:lvl3pPr>
            <a:lvl4pPr lvl="3" algn="ctr">
              <a:lnSpc>
                <a:spcPct val="90000"/>
              </a:lnSpc>
              <a:spcBef>
                <a:spcPts val="600"/>
              </a:spcBef>
              <a:spcAft>
                <a:spcPts val="0"/>
              </a:spcAft>
              <a:buClr>
                <a:schemeClr val="dk1"/>
              </a:buClr>
              <a:buSzPts val="1920"/>
              <a:buNone/>
              <a:defRPr sz="1920"/>
            </a:lvl4pPr>
            <a:lvl5pPr lvl="4" algn="ctr">
              <a:lnSpc>
                <a:spcPct val="90000"/>
              </a:lnSpc>
              <a:spcBef>
                <a:spcPts val="600"/>
              </a:spcBef>
              <a:spcAft>
                <a:spcPts val="0"/>
              </a:spcAft>
              <a:buClr>
                <a:schemeClr val="dk1"/>
              </a:buClr>
              <a:buSzPts val="1920"/>
              <a:buNone/>
              <a:defRPr sz="1920"/>
            </a:lvl5pPr>
            <a:lvl6pPr lvl="5" algn="ctr">
              <a:lnSpc>
                <a:spcPct val="90000"/>
              </a:lnSpc>
              <a:spcBef>
                <a:spcPts val="600"/>
              </a:spcBef>
              <a:spcAft>
                <a:spcPts val="0"/>
              </a:spcAft>
              <a:buClr>
                <a:schemeClr val="dk1"/>
              </a:buClr>
              <a:buSzPts val="1920"/>
              <a:buNone/>
              <a:defRPr sz="1920"/>
            </a:lvl6pPr>
            <a:lvl7pPr lvl="6" algn="ctr">
              <a:lnSpc>
                <a:spcPct val="90000"/>
              </a:lnSpc>
              <a:spcBef>
                <a:spcPts val="600"/>
              </a:spcBef>
              <a:spcAft>
                <a:spcPts val="0"/>
              </a:spcAft>
              <a:buClr>
                <a:schemeClr val="dk1"/>
              </a:buClr>
              <a:buSzPts val="1920"/>
              <a:buNone/>
              <a:defRPr sz="1920"/>
            </a:lvl7pPr>
            <a:lvl8pPr lvl="7" algn="ctr">
              <a:lnSpc>
                <a:spcPct val="90000"/>
              </a:lnSpc>
              <a:spcBef>
                <a:spcPts val="600"/>
              </a:spcBef>
              <a:spcAft>
                <a:spcPts val="0"/>
              </a:spcAft>
              <a:buClr>
                <a:schemeClr val="dk1"/>
              </a:buClr>
              <a:buSzPts val="1920"/>
              <a:buNone/>
              <a:defRPr sz="1920"/>
            </a:lvl8pPr>
            <a:lvl9pPr lvl="8" algn="ctr">
              <a:lnSpc>
                <a:spcPct val="90000"/>
              </a:lnSpc>
              <a:spcBef>
                <a:spcPts val="600"/>
              </a:spcBef>
              <a:spcAft>
                <a:spcPts val="0"/>
              </a:spcAft>
              <a:buClr>
                <a:schemeClr val="dk1"/>
              </a:buClr>
              <a:buSzPts val="1920"/>
              <a:buNone/>
              <a:defRPr sz="1920"/>
            </a:lvl9pPr>
          </a:lstStyle>
          <a:p/>
        </p:txBody>
      </p:sp>
      <p:sp>
        <p:nvSpPr>
          <p:cNvPr id="24" name="Google Shape;24;p22"/>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3"/>
          <p:cNvSpPr txBox="1"/>
          <p:nvPr>
            <p:ph type="title"/>
          </p:nvPr>
        </p:nvSpPr>
        <p:spPr>
          <a:xfrm>
            <a:off x="1005840" y="438150"/>
            <a:ext cx="12618720" cy="15906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1005840" y="2190750"/>
            <a:ext cx="12618720" cy="52216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30" name="Google Shape;30;p23"/>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998220" y="2051686"/>
            <a:ext cx="12618720" cy="34232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7200"/>
              <a:buFont typeface="Calibri"/>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998220" y="5507356"/>
            <a:ext cx="12618720" cy="18002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Clr>
                <a:srgbClr val="888888"/>
              </a:buClr>
              <a:buSzPts val="2880"/>
              <a:buNone/>
              <a:defRPr sz="2880">
                <a:solidFill>
                  <a:srgbClr val="888888"/>
                </a:solidFill>
              </a:defRPr>
            </a:lvl1pPr>
            <a:lvl2pPr indent="-228600" lvl="1" marL="914400" algn="l">
              <a:lnSpc>
                <a:spcPct val="90000"/>
              </a:lnSpc>
              <a:spcBef>
                <a:spcPts val="600"/>
              </a:spcBef>
              <a:spcAft>
                <a:spcPts val="0"/>
              </a:spcAft>
              <a:buClr>
                <a:srgbClr val="888888"/>
              </a:buClr>
              <a:buSzPts val="2400"/>
              <a:buNone/>
              <a:defRPr sz="2400">
                <a:solidFill>
                  <a:srgbClr val="888888"/>
                </a:solidFill>
              </a:defRPr>
            </a:lvl2pPr>
            <a:lvl3pPr indent="-228600" lvl="2" marL="1371600" algn="l">
              <a:lnSpc>
                <a:spcPct val="90000"/>
              </a:lnSpc>
              <a:spcBef>
                <a:spcPts val="600"/>
              </a:spcBef>
              <a:spcAft>
                <a:spcPts val="0"/>
              </a:spcAft>
              <a:buClr>
                <a:srgbClr val="888888"/>
              </a:buClr>
              <a:buSzPts val="2160"/>
              <a:buNone/>
              <a:defRPr sz="2160">
                <a:solidFill>
                  <a:srgbClr val="888888"/>
                </a:solidFill>
              </a:defRPr>
            </a:lvl3pPr>
            <a:lvl4pPr indent="-228600" lvl="3" marL="1828800" algn="l">
              <a:lnSpc>
                <a:spcPct val="90000"/>
              </a:lnSpc>
              <a:spcBef>
                <a:spcPts val="600"/>
              </a:spcBef>
              <a:spcAft>
                <a:spcPts val="0"/>
              </a:spcAft>
              <a:buClr>
                <a:srgbClr val="888888"/>
              </a:buClr>
              <a:buSzPts val="1920"/>
              <a:buNone/>
              <a:defRPr sz="1920">
                <a:solidFill>
                  <a:srgbClr val="888888"/>
                </a:solidFill>
              </a:defRPr>
            </a:lvl4pPr>
            <a:lvl5pPr indent="-228600" lvl="4" marL="2286000" algn="l">
              <a:lnSpc>
                <a:spcPct val="90000"/>
              </a:lnSpc>
              <a:spcBef>
                <a:spcPts val="600"/>
              </a:spcBef>
              <a:spcAft>
                <a:spcPts val="0"/>
              </a:spcAft>
              <a:buClr>
                <a:srgbClr val="888888"/>
              </a:buClr>
              <a:buSzPts val="1920"/>
              <a:buNone/>
              <a:defRPr sz="1920">
                <a:solidFill>
                  <a:srgbClr val="888888"/>
                </a:solidFill>
              </a:defRPr>
            </a:lvl5pPr>
            <a:lvl6pPr indent="-228600" lvl="5" marL="2743200" algn="l">
              <a:lnSpc>
                <a:spcPct val="90000"/>
              </a:lnSpc>
              <a:spcBef>
                <a:spcPts val="600"/>
              </a:spcBef>
              <a:spcAft>
                <a:spcPts val="0"/>
              </a:spcAft>
              <a:buClr>
                <a:srgbClr val="888888"/>
              </a:buClr>
              <a:buSzPts val="1920"/>
              <a:buNone/>
              <a:defRPr sz="1920">
                <a:solidFill>
                  <a:srgbClr val="888888"/>
                </a:solidFill>
              </a:defRPr>
            </a:lvl6pPr>
            <a:lvl7pPr indent="-228600" lvl="6" marL="3200400" algn="l">
              <a:lnSpc>
                <a:spcPct val="90000"/>
              </a:lnSpc>
              <a:spcBef>
                <a:spcPts val="600"/>
              </a:spcBef>
              <a:spcAft>
                <a:spcPts val="0"/>
              </a:spcAft>
              <a:buClr>
                <a:srgbClr val="888888"/>
              </a:buClr>
              <a:buSzPts val="1920"/>
              <a:buNone/>
              <a:defRPr sz="1920">
                <a:solidFill>
                  <a:srgbClr val="888888"/>
                </a:solidFill>
              </a:defRPr>
            </a:lvl7pPr>
            <a:lvl8pPr indent="-228600" lvl="7" marL="3657600" algn="l">
              <a:lnSpc>
                <a:spcPct val="90000"/>
              </a:lnSpc>
              <a:spcBef>
                <a:spcPts val="600"/>
              </a:spcBef>
              <a:spcAft>
                <a:spcPts val="0"/>
              </a:spcAft>
              <a:buClr>
                <a:srgbClr val="888888"/>
              </a:buClr>
              <a:buSzPts val="1920"/>
              <a:buNone/>
              <a:defRPr sz="1920">
                <a:solidFill>
                  <a:srgbClr val="888888"/>
                </a:solidFill>
              </a:defRPr>
            </a:lvl8pPr>
            <a:lvl9pPr indent="-228600" lvl="8" marL="4114800" algn="l">
              <a:lnSpc>
                <a:spcPct val="90000"/>
              </a:lnSpc>
              <a:spcBef>
                <a:spcPts val="600"/>
              </a:spcBef>
              <a:spcAft>
                <a:spcPts val="0"/>
              </a:spcAft>
              <a:buClr>
                <a:srgbClr val="888888"/>
              </a:buClr>
              <a:buSzPts val="1920"/>
              <a:buNone/>
              <a:defRPr sz="1920">
                <a:solidFill>
                  <a:srgbClr val="888888"/>
                </a:solidFill>
              </a:defRPr>
            </a:lvl9pPr>
          </a:lstStyle>
          <a:p/>
        </p:txBody>
      </p:sp>
      <p:sp>
        <p:nvSpPr>
          <p:cNvPr id="36" name="Google Shape;36;p24"/>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1005840" y="438150"/>
            <a:ext cx="12618720" cy="15906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5"/>
          <p:cNvSpPr txBox="1"/>
          <p:nvPr>
            <p:ph idx="1" type="body"/>
          </p:nvPr>
        </p:nvSpPr>
        <p:spPr>
          <a:xfrm>
            <a:off x="1005840" y="2190750"/>
            <a:ext cx="6217920" cy="52216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2" name="Google Shape;42;p25"/>
          <p:cNvSpPr txBox="1"/>
          <p:nvPr>
            <p:ph idx="2" type="body"/>
          </p:nvPr>
        </p:nvSpPr>
        <p:spPr>
          <a:xfrm>
            <a:off x="7406640" y="2190750"/>
            <a:ext cx="6217920" cy="52216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3" name="Google Shape;43;p25"/>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1007746" y="438150"/>
            <a:ext cx="12618720" cy="15906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 type="body"/>
          </p:nvPr>
        </p:nvSpPr>
        <p:spPr>
          <a:xfrm>
            <a:off x="1007746" y="2017396"/>
            <a:ext cx="6189344" cy="98869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200"/>
              </a:spcBef>
              <a:spcAft>
                <a:spcPts val="0"/>
              </a:spcAft>
              <a:buClr>
                <a:schemeClr val="dk1"/>
              </a:buClr>
              <a:buSzPts val="2880"/>
              <a:buNone/>
              <a:defRPr b="1" sz="2880"/>
            </a:lvl1pPr>
            <a:lvl2pPr indent="-228600" lvl="1" marL="914400" algn="l">
              <a:lnSpc>
                <a:spcPct val="90000"/>
              </a:lnSpc>
              <a:spcBef>
                <a:spcPts val="600"/>
              </a:spcBef>
              <a:spcAft>
                <a:spcPts val="0"/>
              </a:spcAft>
              <a:buClr>
                <a:schemeClr val="dk1"/>
              </a:buClr>
              <a:buSzPts val="2400"/>
              <a:buNone/>
              <a:defRPr b="1" sz="2400"/>
            </a:lvl2pPr>
            <a:lvl3pPr indent="-228600" lvl="2" marL="1371600" algn="l">
              <a:lnSpc>
                <a:spcPct val="90000"/>
              </a:lnSpc>
              <a:spcBef>
                <a:spcPts val="600"/>
              </a:spcBef>
              <a:spcAft>
                <a:spcPts val="0"/>
              </a:spcAft>
              <a:buClr>
                <a:schemeClr val="dk1"/>
              </a:buClr>
              <a:buSzPts val="2160"/>
              <a:buNone/>
              <a:defRPr b="1" sz="2160"/>
            </a:lvl3pPr>
            <a:lvl4pPr indent="-228600" lvl="3" marL="1828800" algn="l">
              <a:lnSpc>
                <a:spcPct val="90000"/>
              </a:lnSpc>
              <a:spcBef>
                <a:spcPts val="600"/>
              </a:spcBef>
              <a:spcAft>
                <a:spcPts val="0"/>
              </a:spcAft>
              <a:buClr>
                <a:schemeClr val="dk1"/>
              </a:buClr>
              <a:buSzPts val="1920"/>
              <a:buNone/>
              <a:defRPr b="1" sz="1920"/>
            </a:lvl4pPr>
            <a:lvl5pPr indent="-228600" lvl="4" marL="2286000" algn="l">
              <a:lnSpc>
                <a:spcPct val="90000"/>
              </a:lnSpc>
              <a:spcBef>
                <a:spcPts val="600"/>
              </a:spcBef>
              <a:spcAft>
                <a:spcPts val="0"/>
              </a:spcAft>
              <a:buClr>
                <a:schemeClr val="dk1"/>
              </a:buClr>
              <a:buSzPts val="1920"/>
              <a:buNone/>
              <a:defRPr b="1" sz="1920"/>
            </a:lvl5pPr>
            <a:lvl6pPr indent="-228600" lvl="5" marL="2743200" algn="l">
              <a:lnSpc>
                <a:spcPct val="90000"/>
              </a:lnSpc>
              <a:spcBef>
                <a:spcPts val="600"/>
              </a:spcBef>
              <a:spcAft>
                <a:spcPts val="0"/>
              </a:spcAft>
              <a:buClr>
                <a:schemeClr val="dk1"/>
              </a:buClr>
              <a:buSzPts val="1920"/>
              <a:buNone/>
              <a:defRPr b="1" sz="1920"/>
            </a:lvl6pPr>
            <a:lvl7pPr indent="-228600" lvl="6" marL="3200400" algn="l">
              <a:lnSpc>
                <a:spcPct val="90000"/>
              </a:lnSpc>
              <a:spcBef>
                <a:spcPts val="600"/>
              </a:spcBef>
              <a:spcAft>
                <a:spcPts val="0"/>
              </a:spcAft>
              <a:buClr>
                <a:schemeClr val="dk1"/>
              </a:buClr>
              <a:buSzPts val="1920"/>
              <a:buNone/>
              <a:defRPr b="1" sz="1920"/>
            </a:lvl7pPr>
            <a:lvl8pPr indent="-228600" lvl="7" marL="3657600" algn="l">
              <a:lnSpc>
                <a:spcPct val="90000"/>
              </a:lnSpc>
              <a:spcBef>
                <a:spcPts val="600"/>
              </a:spcBef>
              <a:spcAft>
                <a:spcPts val="0"/>
              </a:spcAft>
              <a:buClr>
                <a:schemeClr val="dk1"/>
              </a:buClr>
              <a:buSzPts val="1920"/>
              <a:buNone/>
              <a:defRPr b="1" sz="1920"/>
            </a:lvl8pPr>
            <a:lvl9pPr indent="-228600" lvl="8" marL="4114800" algn="l">
              <a:lnSpc>
                <a:spcPct val="90000"/>
              </a:lnSpc>
              <a:spcBef>
                <a:spcPts val="600"/>
              </a:spcBef>
              <a:spcAft>
                <a:spcPts val="0"/>
              </a:spcAft>
              <a:buClr>
                <a:schemeClr val="dk1"/>
              </a:buClr>
              <a:buSzPts val="1920"/>
              <a:buNone/>
              <a:defRPr b="1" sz="1920"/>
            </a:lvl9pPr>
          </a:lstStyle>
          <a:p/>
        </p:txBody>
      </p:sp>
      <p:sp>
        <p:nvSpPr>
          <p:cNvPr id="49" name="Google Shape;49;p26"/>
          <p:cNvSpPr txBox="1"/>
          <p:nvPr>
            <p:ph idx="2" type="body"/>
          </p:nvPr>
        </p:nvSpPr>
        <p:spPr>
          <a:xfrm>
            <a:off x="1007746" y="3006090"/>
            <a:ext cx="6189344" cy="44215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0" name="Google Shape;50;p26"/>
          <p:cNvSpPr txBox="1"/>
          <p:nvPr>
            <p:ph idx="3" type="body"/>
          </p:nvPr>
        </p:nvSpPr>
        <p:spPr>
          <a:xfrm>
            <a:off x="7406640" y="2017396"/>
            <a:ext cx="6219826" cy="98869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200"/>
              </a:spcBef>
              <a:spcAft>
                <a:spcPts val="0"/>
              </a:spcAft>
              <a:buClr>
                <a:schemeClr val="dk1"/>
              </a:buClr>
              <a:buSzPts val="2880"/>
              <a:buNone/>
              <a:defRPr b="1" sz="2880"/>
            </a:lvl1pPr>
            <a:lvl2pPr indent="-228600" lvl="1" marL="914400" algn="l">
              <a:lnSpc>
                <a:spcPct val="90000"/>
              </a:lnSpc>
              <a:spcBef>
                <a:spcPts val="600"/>
              </a:spcBef>
              <a:spcAft>
                <a:spcPts val="0"/>
              </a:spcAft>
              <a:buClr>
                <a:schemeClr val="dk1"/>
              </a:buClr>
              <a:buSzPts val="2400"/>
              <a:buNone/>
              <a:defRPr b="1" sz="2400"/>
            </a:lvl2pPr>
            <a:lvl3pPr indent="-228600" lvl="2" marL="1371600" algn="l">
              <a:lnSpc>
                <a:spcPct val="90000"/>
              </a:lnSpc>
              <a:spcBef>
                <a:spcPts val="600"/>
              </a:spcBef>
              <a:spcAft>
                <a:spcPts val="0"/>
              </a:spcAft>
              <a:buClr>
                <a:schemeClr val="dk1"/>
              </a:buClr>
              <a:buSzPts val="2160"/>
              <a:buNone/>
              <a:defRPr b="1" sz="2160"/>
            </a:lvl3pPr>
            <a:lvl4pPr indent="-228600" lvl="3" marL="1828800" algn="l">
              <a:lnSpc>
                <a:spcPct val="90000"/>
              </a:lnSpc>
              <a:spcBef>
                <a:spcPts val="600"/>
              </a:spcBef>
              <a:spcAft>
                <a:spcPts val="0"/>
              </a:spcAft>
              <a:buClr>
                <a:schemeClr val="dk1"/>
              </a:buClr>
              <a:buSzPts val="1920"/>
              <a:buNone/>
              <a:defRPr b="1" sz="1920"/>
            </a:lvl4pPr>
            <a:lvl5pPr indent="-228600" lvl="4" marL="2286000" algn="l">
              <a:lnSpc>
                <a:spcPct val="90000"/>
              </a:lnSpc>
              <a:spcBef>
                <a:spcPts val="600"/>
              </a:spcBef>
              <a:spcAft>
                <a:spcPts val="0"/>
              </a:spcAft>
              <a:buClr>
                <a:schemeClr val="dk1"/>
              </a:buClr>
              <a:buSzPts val="1920"/>
              <a:buNone/>
              <a:defRPr b="1" sz="1920"/>
            </a:lvl5pPr>
            <a:lvl6pPr indent="-228600" lvl="5" marL="2743200" algn="l">
              <a:lnSpc>
                <a:spcPct val="90000"/>
              </a:lnSpc>
              <a:spcBef>
                <a:spcPts val="600"/>
              </a:spcBef>
              <a:spcAft>
                <a:spcPts val="0"/>
              </a:spcAft>
              <a:buClr>
                <a:schemeClr val="dk1"/>
              </a:buClr>
              <a:buSzPts val="1920"/>
              <a:buNone/>
              <a:defRPr b="1" sz="1920"/>
            </a:lvl6pPr>
            <a:lvl7pPr indent="-228600" lvl="6" marL="3200400" algn="l">
              <a:lnSpc>
                <a:spcPct val="90000"/>
              </a:lnSpc>
              <a:spcBef>
                <a:spcPts val="600"/>
              </a:spcBef>
              <a:spcAft>
                <a:spcPts val="0"/>
              </a:spcAft>
              <a:buClr>
                <a:schemeClr val="dk1"/>
              </a:buClr>
              <a:buSzPts val="1920"/>
              <a:buNone/>
              <a:defRPr b="1" sz="1920"/>
            </a:lvl7pPr>
            <a:lvl8pPr indent="-228600" lvl="7" marL="3657600" algn="l">
              <a:lnSpc>
                <a:spcPct val="90000"/>
              </a:lnSpc>
              <a:spcBef>
                <a:spcPts val="600"/>
              </a:spcBef>
              <a:spcAft>
                <a:spcPts val="0"/>
              </a:spcAft>
              <a:buClr>
                <a:schemeClr val="dk1"/>
              </a:buClr>
              <a:buSzPts val="1920"/>
              <a:buNone/>
              <a:defRPr b="1" sz="1920"/>
            </a:lvl8pPr>
            <a:lvl9pPr indent="-228600" lvl="8" marL="4114800" algn="l">
              <a:lnSpc>
                <a:spcPct val="90000"/>
              </a:lnSpc>
              <a:spcBef>
                <a:spcPts val="600"/>
              </a:spcBef>
              <a:spcAft>
                <a:spcPts val="0"/>
              </a:spcAft>
              <a:buClr>
                <a:schemeClr val="dk1"/>
              </a:buClr>
              <a:buSzPts val="1920"/>
              <a:buNone/>
              <a:defRPr b="1" sz="1920"/>
            </a:lvl9pPr>
          </a:lstStyle>
          <a:p/>
        </p:txBody>
      </p:sp>
      <p:sp>
        <p:nvSpPr>
          <p:cNvPr id="51" name="Google Shape;51;p26"/>
          <p:cNvSpPr txBox="1"/>
          <p:nvPr>
            <p:ph idx="4" type="body"/>
          </p:nvPr>
        </p:nvSpPr>
        <p:spPr>
          <a:xfrm>
            <a:off x="7406640" y="3006090"/>
            <a:ext cx="6219826" cy="44215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2" name="Google Shape;52;p26"/>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1005840" y="438150"/>
            <a:ext cx="12618720" cy="15906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7"/>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8"/>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1007746" y="548640"/>
            <a:ext cx="4718684" cy="19202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840"/>
              <a:buFont typeface="Calibri"/>
              <a:buNone/>
              <a:defRPr sz="38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9"/>
          <p:cNvSpPr txBox="1"/>
          <p:nvPr>
            <p:ph idx="1" type="body"/>
          </p:nvPr>
        </p:nvSpPr>
        <p:spPr>
          <a:xfrm>
            <a:off x="6219826" y="1184911"/>
            <a:ext cx="7406640" cy="5848350"/>
          </a:xfrm>
          <a:prstGeom prst="rect">
            <a:avLst/>
          </a:prstGeom>
          <a:noFill/>
          <a:ln>
            <a:noFill/>
          </a:ln>
        </p:spPr>
        <p:txBody>
          <a:bodyPr anchorCtr="0" anchor="t" bIns="45700" lIns="91425" spcFirstLastPara="1" rIns="91425" wrap="square" tIns="45700">
            <a:normAutofit/>
          </a:bodyPr>
          <a:lstStyle>
            <a:lvl1pPr indent="-472440" lvl="0" marL="457200" algn="l">
              <a:lnSpc>
                <a:spcPct val="90000"/>
              </a:lnSpc>
              <a:spcBef>
                <a:spcPts val="1200"/>
              </a:spcBef>
              <a:spcAft>
                <a:spcPts val="0"/>
              </a:spcAft>
              <a:buClr>
                <a:schemeClr val="dk1"/>
              </a:buClr>
              <a:buSzPts val="3840"/>
              <a:buChar char="•"/>
              <a:defRPr sz="3840"/>
            </a:lvl1pPr>
            <a:lvl2pPr indent="-441960" lvl="1" marL="914400" algn="l">
              <a:lnSpc>
                <a:spcPct val="90000"/>
              </a:lnSpc>
              <a:spcBef>
                <a:spcPts val="600"/>
              </a:spcBef>
              <a:spcAft>
                <a:spcPts val="0"/>
              </a:spcAft>
              <a:buClr>
                <a:schemeClr val="dk1"/>
              </a:buClr>
              <a:buSzPts val="3360"/>
              <a:buChar char="•"/>
              <a:defRPr sz="3359"/>
            </a:lvl2pPr>
            <a:lvl3pPr indent="-411480" lvl="2" marL="1371600" algn="l">
              <a:lnSpc>
                <a:spcPct val="90000"/>
              </a:lnSpc>
              <a:spcBef>
                <a:spcPts val="600"/>
              </a:spcBef>
              <a:spcAft>
                <a:spcPts val="0"/>
              </a:spcAft>
              <a:buClr>
                <a:schemeClr val="dk1"/>
              </a:buClr>
              <a:buSzPts val="2880"/>
              <a:buChar char="•"/>
              <a:defRPr sz="2880"/>
            </a:lvl3pPr>
            <a:lvl4pPr indent="-381000" lvl="3" marL="1828800" algn="l">
              <a:lnSpc>
                <a:spcPct val="90000"/>
              </a:lnSpc>
              <a:spcBef>
                <a:spcPts val="600"/>
              </a:spcBef>
              <a:spcAft>
                <a:spcPts val="0"/>
              </a:spcAft>
              <a:buClr>
                <a:schemeClr val="dk1"/>
              </a:buClr>
              <a:buSzPts val="2400"/>
              <a:buChar char="•"/>
              <a:defRPr sz="2400"/>
            </a:lvl4pPr>
            <a:lvl5pPr indent="-381000" lvl="4" marL="2286000" algn="l">
              <a:lnSpc>
                <a:spcPct val="90000"/>
              </a:lnSpc>
              <a:spcBef>
                <a:spcPts val="600"/>
              </a:spcBef>
              <a:spcAft>
                <a:spcPts val="0"/>
              </a:spcAft>
              <a:buClr>
                <a:schemeClr val="dk1"/>
              </a:buClr>
              <a:buSzPts val="2400"/>
              <a:buChar char="•"/>
              <a:defRPr sz="2400"/>
            </a:lvl5pPr>
            <a:lvl6pPr indent="-381000" lvl="5" marL="2743200" algn="l">
              <a:lnSpc>
                <a:spcPct val="90000"/>
              </a:lnSpc>
              <a:spcBef>
                <a:spcPts val="600"/>
              </a:spcBef>
              <a:spcAft>
                <a:spcPts val="0"/>
              </a:spcAft>
              <a:buClr>
                <a:schemeClr val="dk1"/>
              </a:buClr>
              <a:buSzPts val="2400"/>
              <a:buChar char="•"/>
              <a:defRPr sz="2400"/>
            </a:lvl6pPr>
            <a:lvl7pPr indent="-381000" lvl="6" marL="3200400" algn="l">
              <a:lnSpc>
                <a:spcPct val="90000"/>
              </a:lnSpc>
              <a:spcBef>
                <a:spcPts val="600"/>
              </a:spcBef>
              <a:spcAft>
                <a:spcPts val="0"/>
              </a:spcAft>
              <a:buClr>
                <a:schemeClr val="dk1"/>
              </a:buClr>
              <a:buSzPts val="2400"/>
              <a:buChar char="•"/>
              <a:defRPr sz="2400"/>
            </a:lvl7pPr>
            <a:lvl8pPr indent="-381000" lvl="7" marL="3657600" algn="l">
              <a:lnSpc>
                <a:spcPct val="90000"/>
              </a:lnSpc>
              <a:spcBef>
                <a:spcPts val="600"/>
              </a:spcBef>
              <a:spcAft>
                <a:spcPts val="0"/>
              </a:spcAft>
              <a:buClr>
                <a:schemeClr val="dk1"/>
              </a:buClr>
              <a:buSzPts val="2400"/>
              <a:buChar char="•"/>
              <a:defRPr sz="2400"/>
            </a:lvl8pPr>
            <a:lvl9pPr indent="-381000" lvl="8" marL="4114800" algn="l">
              <a:lnSpc>
                <a:spcPct val="90000"/>
              </a:lnSpc>
              <a:spcBef>
                <a:spcPts val="600"/>
              </a:spcBef>
              <a:spcAft>
                <a:spcPts val="0"/>
              </a:spcAft>
              <a:buClr>
                <a:schemeClr val="dk1"/>
              </a:buClr>
              <a:buSzPts val="2400"/>
              <a:buChar char="•"/>
              <a:defRPr sz="2400"/>
            </a:lvl9pPr>
          </a:lstStyle>
          <a:p/>
        </p:txBody>
      </p:sp>
      <p:sp>
        <p:nvSpPr>
          <p:cNvPr id="67" name="Google Shape;67;p29"/>
          <p:cNvSpPr txBox="1"/>
          <p:nvPr>
            <p:ph idx="2" type="body"/>
          </p:nvPr>
        </p:nvSpPr>
        <p:spPr>
          <a:xfrm>
            <a:off x="1007746" y="2468880"/>
            <a:ext cx="4718684" cy="45739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Clr>
                <a:schemeClr val="dk1"/>
              </a:buClr>
              <a:buSzPts val="1920"/>
              <a:buNone/>
              <a:defRPr sz="1920"/>
            </a:lvl1pPr>
            <a:lvl2pPr indent="-228600" lvl="1" marL="914400" algn="l">
              <a:lnSpc>
                <a:spcPct val="90000"/>
              </a:lnSpc>
              <a:spcBef>
                <a:spcPts val="600"/>
              </a:spcBef>
              <a:spcAft>
                <a:spcPts val="0"/>
              </a:spcAft>
              <a:buClr>
                <a:schemeClr val="dk1"/>
              </a:buClr>
              <a:buSzPts val="1680"/>
              <a:buNone/>
              <a:defRPr sz="1679"/>
            </a:lvl2pPr>
            <a:lvl3pPr indent="-228600" lvl="2" marL="1371600" algn="l">
              <a:lnSpc>
                <a:spcPct val="90000"/>
              </a:lnSpc>
              <a:spcBef>
                <a:spcPts val="600"/>
              </a:spcBef>
              <a:spcAft>
                <a:spcPts val="0"/>
              </a:spcAft>
              <a:buClr>
                <a:schemeClr val="dk1"/>
              </a:buClr>
              <a:buSzPts val="1440"/>
              <a:buNone/>
              <a:defRPr sz="1440"/>
            </a:lvl3pPr>
            <a:lvl4pPr indent="-228600" lvl="3" marL="1828800" algn="l">
              <a:lnSpc>
                <a:spcPct val="90000"/>
              </a:lnSpc>
              <a:spcBef>
                <a:spcPts val="600"/>
              </a:spcBef>
              <a:spcAft>
                <a:spcPts val="0"/>
              </a:spcAft>
              <a:buClr>
                <a:schemeClr val="dk1"/>
              </a:buClr>
              <a:buSzPts val="1200"/>
              <a:buNone/>
              <a:defRPr sz="1200"/>
            </a:lvl4pPr>
            <a:lvl5pPr indent="-228600" lvl="4" marL="2286000" algn="l">
              <a:lnSpc>
                <a:spcPct val="90000"/>
              </a:lnSpc>
              <a:spcBef>
                <a:spcPts val="600"/>
              </a:spcBef>
              <a:spcAft>
                <a:spcPts val="0"/>
              </a:spcAft>
              <a:buClr>
                <a:schemeClr val="dk1"/>
              </a:buClr>
              <a:buSzPts val="1200"/>
              <a:buNone/>
              <a:defRPr sz="1200"/>
            </a:lvl5pPr>
            <a:lvl6pPr indent="-228600" lvl="5" marL="2743200" algn="l">
              <a:lnSpc>
                <a:spcPct val="90000"/>
              </a:lnSpc>
              <a:spcBef>
                <a:spcPts val="600"/>
              </a:spcBef>
              <a:spcAft>
                <a:spcPts val="0"/>
              </a:spcAft>
              <a:buClr>
                <a:schemeClr val="dk1"/>
              </a:buClr>
              <a:buSzPts val="1200"/>
              <a:buNone/>
              <a:defRPr sz="1200"/>
            </a:lvl6pPr>
            <a:lvl7pPr indent="-228600" lvl="6" marL="3200400" algn="l">
              <a:lnSpc>
                <a:spcPct val="90000"/>
              </a:lnSpc>
              <a:spcBef>
                <a:spcPts val="600"/>
              </a:spcBef>
              <a:spcAft>
                <a:spcPts val="0"/>
              </a:spcAft>
              <a:buClr>
                <a:schemeClr val="dk1"/>
              </a:buClr>
              <a:buSzPts val="1200"/>
              <a:buNone/>
              <a:defRPr sz="1200"/>
            </a:lvl7pPr>
            <a:lvl8pPr indent="-228600" lvl="7" marL="3657600" algn="l">
              <a:lnSpc>
                <a:spcPct val="90000"/>
              </a:lnSpc>
              <a:spcBef>
                <a:spcPts val="600"/>
              </a:spcBef>
              <a:spcAft>
                <a:spcPts val="0"/>
              </a:spcAft>
              <a:buClr>
                <a:schemeClr val="dk1"/>
              </a:buClr>
              <a:buSzPts val="1200"/>
              <a:buNone/>
              <a:defRPr sz="1200"/>
            </a:lvl8pPr>
            <a:lvl9pPr indent="-228600" lvl="8" marL="4114800" algn="l">
              <a:lnSpc>
                <a:spcPct val="90000"/>
              </a:lnSpc>
              <a:spcBef>
                <a:spcPts val="600"/>
              </a:spcBef>
              <a:spcAft>
                <a:spcPts val="0"/>
              </a:spcAft>
              <a:buClr>
                <a:schemeClr val="dk1"/>
              </a:buClr>
              <a:buSzPts val="1200"/>
              <a:buNone/>
              <a:defRPr sz="1200"/>
            </a:lvl9pPr>
          </a:lstStyle>
          <a:p/>
        </p:txBody>
      </p:sp>
      <p:sp>
        <p:nvSpPr>
          <p:cNvPr id="68" name="Google Shape;68;p29"/>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1007746" y="548640"/>
            <a:ext cx="4718684" cy="19202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840"/>
              <a:buFont typeface="Calibri"/>
              <a:buNone/>
              <a:defRPr sz="38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0"/>
          <p:cNvSpPr/>
          <p:nvPr>
            <p:ph idx="2" type="pic"/>
          </p:nvPr>
        </p:nvSpPr>
        <p:spPr>
          <a:xfrm>
            <a:off x="6219826" y="1184911"/>
            <a:ext cx="7406640" cy="5848350"/>
          </a:xfrm>
          <a:prstGeom prst="rect">
            <a:avLst/>
          </a:prstGeom>
          <a:noFill/>
          <a:ln>
            <a:noFill/>
          </a:ln>
        </p:spPr>
      </p:sp>
      <p:sp>
        <p:nvSpPr>
          <p:cNvPr id="74" name="Google Shape;74;p30"/>
          <p:cNvSpPr txBox="1"/>
          <p:nvPr>
            <p:ph idx="1" type="body"/>
          </p:nvPr>
        </p:nvSpPr>
        <p:spPr>
          <a:xfrm>
            <a:off x="1007746" y="2468880"/>
            <a:ext cx="4718684" cy="45739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Clr>
                <a:schemeClr val="dk1"/>
              </a:buClr>
              <a:buSzPts val="1920"/>
              <a:buNone/>
              <a:defRPr sz="1920"/>
            </a:lvl1pPr>
            <a:lvl2pPr indent="-228600" lvl="1" marL="914400" algn="l">
              <a:lnSpc>
                <a:spcPct val="90000"/>
              </a:lnSpc>
              <a:spcBef>
                <a:spcPts val="600"/>
              </a:spcBef>
              <a:spcAft>
                <a:spcPts val="0"/>
              </a:spcAft>
              <a:buClr>
                <a:schemeClr val="dk1"/>
              </a:buClr>
              <a:buSzPts val="1680"/>
              <a:buNone/>
              <a:defRPr sz="1679"/>
            </a:lvl2pPr>
            <a:lvl3pPr indent="-228600" lvl="2" marL="1371600" algn="l">
              <a:lnSpc>
                <a:spcPct val="90000"/>
              </a:lnSpc>
              <a:spcBef>
                <a:spcPts val="600"/>
              </a:spcBef>
              <a:spcAft>
                <a:spcPts val="0"/>
              </a:spcAft>
              <a:buClr>
                <a:schemeClr val="dk1"/>
              </a:buClr>
              <a:buSzPts val="1440"/>
              <a:buNone/>
              <a:defRPr sz="1440"/>
            </a:lvl3pPr>
            <a:lvl4pPr indent="-228600" lvl="3" marL="1828800" algn="l">
              <a:lnSpc>
                <a:spcPct val="90000"/>
              </a:lnSpc>
              <a:spcBef>
                <a:spcPts val="600"/>
              </a:spcBef>
              <a:spcAft>
                <a:spcPts val="0"/>
              </a:spcAft>
              <a:buClr>
                <a:schemeClr val="dk1"/>
              </a:buClr>
              <a:buSzPts val="1200"/>
              <a:buNone/>
              <a:defRPr sz="1200"/>
            </a:lvl4pPr>
            <a:lvl5pPr indent="-228600" lvl="4" marL="2286000" algn="l">
              <a:lnSpc>
                <a:spcPct val="90000"/>
              </a:lnSpc>
              <a:spcBef>
                <a:spcPts val="600"/>
              </a:spcBef>
              <a:spcAft>
                <a:spcPts val="0"/>
              </a:spcAft>
              <a:buClr>
                <a:schemeClr val="dk1"/>
              </a:buClr>
              <a:buSzPts val="1200"/>
              <a:buNone/>
              <a:defRPr sz="1200"/>
            </a:lvl5pPr>
            <a:lvl6pPr indent="-228600" lvl="5" marL="2743200" algn="l">
              <a:lnSpc>
                <a:spcPct val="90000"/>
              </a:lnSpc>
              <a:spcBef>
                <a:spcPts val="600"/>
              </a:spcBef>
              <a:spcAft>
                <a:spcPts val="0"/>
              </a:spcAft>
              <a:buClr>
                <a:schemeClr val="dk1"/>
              </a:buClr>
              <a:buSzPts val="1200"/>
              <a:buNone/>
              <a:defRPr sz="1200"/>
            </a:lvl6pPr>
            <a:lvl7pPr indent="-228600" lvl="6" marL="3200400" algn="l">
              <a:lnSpc>
                <a:spcPct val="90000"/>
              </a:lnSpc>
              <a:spcBef>
                <a:spcPts val="600"/>
              </a:spcBef>
              <a:spcAft>
                <a:spcPts val="0"/>
              </a:spcAft>
              <a:buClr>
                <a:schemeClr val="dk1"/>
              </a:buClr>
              <a:buSzPts val="1200"/>
              <a:buNone/>
              <a:defRPr sz="1200"/>
            </a:lvl7pPr>
            <a:lvl8pPr indent="-228600" lvl="7" marL="3657600" algn="l">
              <a:lnSpc>
                <a:spcPct val="90000"/>
              </a:lnSpc>
              <a:spcBef>
                <a:spcPts val="600"/>
              </a:spcBef>
              <a:spcAft>
                <a:spcPts val="0"/>
              </a:spcAft>
              <a:buClr>
                <a:schemeClr val="dk1"/>
              </a:buClr>
              <a:buSzPts val="1200"/>
              <a:buNone/>
              <a:defRPr sz="1200"/>
            </a:lvl8pPr>
            <a:lvl9pPr indent="-228600" lvl="8" marL="4114800" algn="l">
              <a:lnSpc>
                <a:spcPct val="90000"/>
              </a:lnSpc>
              <a:spcBef>
                <a:spcPts val="600"/>
              </a:spcBef>
              <a:spcAft>
                <a:spcPts val="0"/>
              </a:spcAft>
              <a:buClr>
                <a:schemeClr val="dk1"/>
              </a:buClr>
              <a:buSzPts val="1200"/>
              <a:buNone/>
              <a:defRPr sz="1200"/>
            </a:lvl9pPr>
          </a:lstStyle>
          <a:p/>
        </p:txBody>
      </p:sp>
      <p:sp>
        <p:nvSpPr>
          <p:cNvPr id="75" name="Google Shape;75;p30"/>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1"/>
          <p:cNvSpPr txBox="1"/>
          <p:nvPr>
            <p:ph type="title"/>
          </p:nvPr>
        </p:nvSpPr>
        <p:spPr>
          <a:xfrm>
            <a:off x="1005840" y="438150"/>
            <a:ext cx="12618720" cy="15906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4704397" y="-1507807"/>
            <a:ext cx="5221606" cy="126187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1" name="Google Shape;81;p31"/>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2"/>
          <p:cNvSpPr txBox="1"/>
          <p:nvPr>
            <p:ph type="title"/>
          </p:nvPr>
        </p:nvSpPr>
        <p:spPr>
          <a:xfrm rot="5400000">
            <a:off x="8560117" y="2347913"/>
            <a:ext cx="6974206" cy="315468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2"/>
          <p:cNvSpPr txBox="1"/>
          <p:nvPr>
            <p:ph idx="1" type="body"/>
          </p:nvPr>
        </p:nvSpPr>
        <p:spPr>
          <a:xfrm rot="5400000">
            <a:off x="2159317" y="-715327"/>
            <a:ext cx="6974206" cy="92811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7" name="Google Shape;87;p32"/>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2"/>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1005840" y="438150"/>
            <a:ext cx="12618720" cy="159067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5280"/>
              <a:buFont typeface="Calibri"/>
              <a:buNone/>
              <a:defRPr b="0" i="0" sz="52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1005840" y="2190750"/>
            <a:ext cx="12618720" cy="5221606"/>
          </a:xfrm>
          <a:prstGeom prst="rect">
            <a:avLst/>
          </a:prstGeom>
          <a:noFill/>
          <a:ln>
            <a:noFill/>
          </a:ln>
        </p:spPr>
        <p:txBody>
          <a:bodyPr anchorCtr="0" anchor="t" bIns="45700" lIns="91425" spcFirstLastPara="1" rIns="91425" wrap="square" tIns="45700">
            <a:normAutofit/>
          </a:bodyPr>
          <a:lstStyle>
            <a:lvl1pPr indent="-441960" lvl="0" marL="457200" marR="0" rtl="0" algn="l">
              <a:lnSpc>
                <a:spcPct val="90000"/>
              </a:lnSpc>
              <a:spcBef>
                <a:spcPts val="1200"/>
              </a:spcBef>
              <a:spcAft>
                <a:spcPts val="0"/>
              </a:spcAft>
              <a:buClr>
                <a:schemeClr val="dk1"/>
              </a:buClr>
              <a:buSzPts val="3360"/>
              <a:buFont typeface="Arial"/>
              <a:buChar char="•"/>
              <a:defRPr b="0" i="0" sz="3359" u="none" cap="none" strike="noStrike">
                <a:solidFill>
                  <a:schemeClr val="dk1"/>
                </a:solidFill>
                <a:latin typeface="Calibri"/>
                <a:ea typeface="Calibri"/>
                <a:cs typeface="Calibri"/>
                <a:sym typeface="Calibri"/>
              </a:defRPr>
            </a:lvl1pPr>
            <a:lvl2pPr indent="-411480" lvl="1" marL="914400" marR="0" rtl="0" algn="l">
              <a:lnSpc>
                <a:spcPct val="90000"/>
              </a:lnSpc>
              <a:spcBef>
                <a:spcPts val="600"/>
              </a:spcBef>
              <a:spcAft>
                <a:spcPts val="0"/>
              </a:spcAft>
              <a:buClr>
                <a:schemeClr val="dk1"/>
              </a:buClr>
              <a:buSzPts val="2880"/>
              <a:buFont typeface="Arial"/>
              <a:buChar char="•"/>
              <a:defRPr b="0" i="0" sz="2880" u="none" cap="none" strike="noStrike">
                <a:solidFill>
                  <a:schemeClr val="dk1"/>
                </a:solidFill>
                <a:latin typeface="Calibri"/>
                <a:ea typeface="Calibri"/>
                <a:cs typeface="Calibri"/>
                <a:sym typeface="Calibri"/>
              </a:defRPr>
            </a:lvl2pPr>
            <a:lvl3pPr indent="-381000" lvl="2" marL="1371600" marR="0" rtl="0" algn="l">
              <a:lnSpc>
                <a:spcPct val="90000"/>
              </a:lnSpc>
              <a:spcBef>
                <a:spcPts val="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65760" lvl="3" marL="1828800" marR="0" rtl="0" algn="l">
              <a:lnSpc>
                <a:spcPct val="90000"/>
              </a:lnSpc>
              <a:spcBef>
                <a:spcPts val="600"/>
              </a:spcBef>
              <a:spcAft>
                <a:spcPts val="0"/>
              </a:spcAft>
              <a:buClr>
                <a:schemeClr val="dk1"/>
              </a:buClr>
              <a:buSzPts val="2160"/>
              <a:buFont typeface="Arial"/>
              <a:buChar char="•"/>
              <a:defRPr b="0" i="0" sz="2160" u="none" cap="none" strike="noStrike">
                <a:solidFill>
                  <a:schemeClr val="dk1"/>
                </a:solidFill>
                <a:latin typeface="Calibri"/>
                <a:ea typeface="Calibri"/>
                <a:cs typeface="Calibri"/>
                <a:sym typeface="Calibri"/>
              </a:defRPr>
            </a:lvl4pPr>
            <a:lvl5pPr indent="-365760" lvl="4" marL="2286000" marR="0" rtl="0" algn="l">
              <a:lnSpc>
                <a:spcPct val="90000"/>
              </a:lnSpc>
              <a:spcBef>
                <a:spcPts val="600"/>
              </a:spcBef>
              <a:spcAft>
                <a:spcPts val="0"/>
              </a:spcAft>
              <a:buClr>
                <a:schemeClr val="dk1"/>
              </a:buClr>
              <a:buSzPts val="2160"/>
              <a:buFont typeface="Arial"/>
              <a:buChar char="•"/>
              <a:defRPr b="0" i="0" sz="2160" u="none" cap="none" strike="noStrike">
                <a:solidFill>
                  <a:schemeClr val="dk1"/>
                </a:solidFill>
                <a:latin typeface="Calibri"/>
                <a:ea typeface="Calibri"/>
                <a:cs typeface="Calibri"/>
                <a:sym typeface="Calibri"/>
              </a:defRPr>
            </a:lvl5pPr>
            <a:lvl6pPr indent="-365760" lvl="5" marL="2743200" marR="0" rtl="0" algn="l">
              <a:lnSpc>
                <a:spcPct val="90000"/>
              </a:lnSpc>
              <a:spcBef>
                <a:spcPts val="600"/>
              </a:spcBef>
              <a:spcAft>
                <a:spcPts val="0"/>
              </a:spcAft>
              <a:buClr>
                <a:schemeClr val="dk1"/>
              </a:buClr>
              <a:buSzPts val="2160"/>
              <a:buFont typeface="Arial"/>
              <a:buChar char="•"/>
              <a:defRPr b="0" i="0" sz="2160" u="none" cap="none" strike="noStrike">
                <a:solidFill>
                  <a:schemeClr val="dk1"/>
                </a:solidFill>
                <a:latin typeface="Calibri"/>
                <a:ea typeface="Calibri"/>
                <a:cs typeface="Calibri"/>
                <a:sym typeface="Calibri"/>
              </a:defRPr>
            </a:lvl6pPr>
            <a:lvl7pPr indent="-365760" lvl="6" marL="3200400" marR="0" rtl="0" algn="l">
              <a:lnSpc>
                <a:spcPct val="90000"/>
              </a:lnSpc>
              <a:spcBef>
                <a:spcPts val="600"/>
              </a:spcBef>
              <a:spcAft>
                <a:spcPts val="0"/>
              </a:spcAft>
              <a:buClr>
                <a:schemeClr val="dk1"/>
              </a:buClr>
              <a:buSzPts val="2160"/>
              <a:buFont typeface="Arial"/>
              <a:buChar char="•"/>
              <a:defRPr b="0" i="0" sz="2160" u="none" cap="none" strike="noStrike">
                <a:solidFill>
                  <a:schemeClr val="dk1"/>
                </a:solidFill>
                <a:latin typeface="Calibri"/>
                <a:ea typeface="Calibri"/>
                <a:cs typeface="Calibri"/>
                <a:sym typeface="Calibri"/>
              </a:defRPr>
            </a:lvl7pPr>
            <a:lvl8pPr indent="-365759" lvl="7" marL="3657600" marR="0" rtl="0" algn="l">
              <a:lnSpc>
                <a:spcPct val="90000"/>
              </a:lnSpc>
              <a:spcBef>
                <a:spcPts val="600"/>
              </a:spcBef>
              <a:spcAft>
                <a:spcPts val="0"/>
              </a:spcAft>
              <a:buClr>
                <a:schemeClr val="dk1"/>
              </a:buClr>
              <a:buSzPts val="2160"/>
              <a:buFont typeface="Arial"/>
              <a:buChar char="•"/>
              <a:defRPr b="0" i="0" sz="2160" u="none" cap="none" strike="noStrike">
                <a:solidFill>
                  <a:schemeClr val="dk1"/>
                </a:solidFill>
                <a:latin typeface="Calibri"/>
                <a:ea typeface="Calibri"/>
                <a:cs typeface="Calibri"/>
                <a:sym typeface="Calibri"/>
              </a:defRPr>
            </a:lvl8pPr>
            <a:lvl9pPr indent="-365759" lvl="8" marL="4114800" marR="0" rtl="0" algn="l">
              <a:lnSpc>
                <a:spcPct val="90000"/>
              </a:lnSpc>
              <a:spcBef>
                <a:spcPts val="600"/>
              </a:spcBef>
              <a:spcAft>
                <a:spcPts val="0"/>
              </a:spcAft>
              <a:buClr>
                <a:schemeClr val="dk1"/>
              </a:buClr>
              <a:buSzPts val="2160"/>
              <a:buFont typeface="Arial"/>
              <a:buChar char="•"/>
              <a:defRPr b="0" i="0" sz="216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1005840" y="7627621"/>
            <a:ext cx="3291840" cy="4381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4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846320" y="7627621"/>
            <a:ext cx="4937760" cy="43815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44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10332720" y="7627621"/>
            <a:ext cx="3291840" cy="43815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440" u="none" cap="none" strike="noStrike">
                <a:solidFill>
                  <a:srgbClr val="888888"/>
                </a:solidFill>
                <a:latin typeface="Calibri"/>
                <a:ea typeface="Calibri"/>
                <a:cs typeface="Calibri"/>
                <a:sym typeface="Calibri"/>
              </a:defRPr>
            </a:lvl1pPr>
            <a:lvl2pPr indent="0" lvl="1" marL="0" marR="0" rtl="0" algn="r">
              <a:spcBef>
                <a:spcPts val="0"/>
              </a:spcBef>
              <a:buNone/>
              <a:defRPr b="0" i="0" sz="1440" u="none" cap="none" strike="noStrike">
                <a:solidFill>
                  <a:srgbClr val="888888"/>
                </a:solidFill>
                <a:latin typeface="Calibri"/>
                <a:ea typeface="Calibri"/>
                <a:cs typeface="Calibri"/>
                <a:sym typeface="Calibri"/>
              </a:defRPr>
            </a:lvl2pPr>
            <a:lvl3pPr indent="0" lvl="2" marL="0" marR="0" rtl="0" algn="r">
              <a:spcBef>
                <a:spcPts val="0"/>
              </a:spcBef>
              <a:buNone/>
              <a:defRPr b="0" i="0" sz="1440" u="none" cap="none" strike="noStrike">
                <a:solidFill>
                  <a:srgbClr val="888888"/>
                </a:solidFill>
                <a:latin typeface="Calibri"/>
                <a:ea typeface="Calibri"/>
                <a:cs typeface="Calibri"/>
                <a:sym typeface="Calibri"/>
              </a:defRPr>
            </a:lvl3pPr>
            <a:lvl4pPr indent="0" lvl="3" marL="0" marR="0" rtl="0" algn="r">
              <a:spcBef>
                <a:spcPts val="0"/>
              </a:spcBef>
              <a:buNone/>
              <a:defRPr b="0" i="0" sz="1440" u="none" cap="none" strike="noStrike">
                <a:solidFill>
                  <a:srgbClr val="888888"/>
                </a:solidFill>
                <a:latin typeface="Calibri"/>
                <a:ea typeface="Calibri"/>
                <a:cs typeface="Calibri"/>
                <a:sym typeface="Calibri"/>
              </a:defRPr>
            </a:lvl4pPr>
            <a:lvl5pPr indent="0" lvl="4" marL="0" marR="0" rtl="0" algn="r">
              <a:spcBef>
                <a:spcPts val="0"/>
              </a:spcBef>
              <a:buNone/>
              <a:defRPr b="0" i="0" sz="1440" u="none" cap="none" strike="noStrike">
                <a:solidFill>
                  <a:srgbClr val="888888"/>
                </a:solidFill>
                <a:latin typeface="Calibri"/>
                <a:ea typeface="Calibri"/>
                <a:cs typeface="Calibri"/>
                <a:sym typeface="Calibri"/>
              </a:defRPr>
            </a:lvl5pPr>
            <a:lvl6pPr indent="0" lvl="5" marL="0" marR="0" rtl="0" algn="r">
              <a:spcBef>
                <a:spcPts val="0"/>
              </a:spcBef>
              <a:buNone/>
              <a:defRPr b="0" i="0" sz="1440" u="none" cap="none" strike="noStrike">
                <a:solidFill>
                  <a:srgbClr val="888888"/>
                </a:solidFill>
                <a:latin typeface="Calibri"/>
                <a:ea typeface="Calibri"/>
                <a:cs typeface="Calibri"/>
                <a:sym typeface="Calibri"/>
              </a:defRPr>
            </a:lvl6pPr>
            <a:lvl7pPr indent="0" lvl="6" marL="0" marR="0" rtl="0" algn="r">
              <a:spcBef>
                <a:spcPts val="0"/>
              </a:spcBef>
              <a:buNone/>
              <a:defRPr b="0" i="0" sz="1440" u="none" cap="none" strike="noStrike">
                <a:solidFill>
                  <a:srgbClr val="888888"/>
                </a:solidFill>
                <a:latin typeface="Calibri"/>
                <a:ea typeface="Calibri"/>
                <a:cs typeface="Calibri"/>
                <a:sym typeface="Calibri"/>
              </a:defRPr>
            </a:lvl7pPr>
            <a:lvl8pPr indent="0" lvl="7" marL="0" marR="0" rtl="0" algn="r">
              <a:spcBef>
                <a:spcPts val="0"/>
              </a:spcBef>
              <a:buNone/>
              <a:defRPr b="0" i="0" sz="1440" u="none" cap="none" strike="noStrike">
                <a:solidFill>
                  <a:srgbClr val="888888"/>
                </a:solidFill>
                <a:latin typeface="Calibri"/>
                <a:ea typeface="Calibri"/>
                <a:cs typeface="Calibri"/>
                <a:sym typeface="Calibri"/>
              </a:defRPr>
            </a:lvl8pPr>
            <a:lvl9pPr indent="0" lvl="8" marL="0" marR="0" rtl="0" algn="r">
              <a:spcBef>
                <a:spcPts val="0"/>
              </a:spcBef>
              <a:buNone/>
              <a:defRPr b="0" i="0" sz="144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 Id="rId4" Type="http://schemas.openxmlformats.org/officeDocument/2006/relationships/image" Target="../media/image11.png"/><Relationship Id="rId5"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jpg"/><Relationship Id="rId5" Type="http://schemas.openxmlformats.org/officeDocument/2006/relationships/image" Target="../media/image13.jpg"/><Relationship Id="rId6" Type="http://schemas.openxmlformats.org/officeDocument/2006/relationships/image" Target="../media/image16.jpg"/><Relationship Id="rId7"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8.jpg"/><Relationship Id="rId7"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preencoded.png" id="95" name="Google Shape;95;p1"/>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96" name="Google Shape;96;p1"/>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p:nvPr/>
        </p:nvSpPr>
        <p:spPr>
          <a:xfrm>
            <a:off x="837724" y="2491264"/>
            <a:ext cx="12954952" cy="1759982"/>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38512F"/>
              </a:buClr>
              <a:buSzPts val="5500"/>
              <a:buFont typeface="Candara"/>
              <a:buNone/>
            </a:pPr>
            <a:r>
              <a:rPr b="1" i="0" lang="en-US" sz="5500" u="none" cap="none" strike="noStrike">
                <a:solidFill>
                  <a:srgbClr val="38512F"/>
                </a:solidFill>
                <a:latin typeface="Candara"/>
                <a:ea typeface="Candara"/>
                <a:cs typeface="Candara"/>
                <a:sym typeface="Candara"/>
              </a:rPr>
              <a:t>Med-VQA: A Multimodal AI for Medical Visual Question Answering</a:t>
            </a:r>
            <a:endParaRPr b="1" i="0" sz="5500" u="none" cap="none" strike="noStrike">
              <a:solidFill>
                <a:schemeClr val="dk1"/>
              </a:solidFill>
              <a:latin typeface="Candara"/>
              <a:ea typeface="Candara"/>
              <a:cs typeface="Candara"/>
              <a:sym typeface="Candara"/>
            </a:endParaRPr>
          </a:p>
        </p:txBody>
      </p:sp>
      <p:sp>
        <p:nvSpPr>
          <p:cNvPr id="98" name="Google Shape;98;p1"/>
          <p:cNvSpPr/>
          <p:nvPr/>
        </p:nvSpPr>
        <p:spPr>
          <a:xfrm>
            <a:off x="837724" y="4370903"/>
            <a:ext cx="9493448" cy="440055"/>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38512F"/>
              </a:buClr>
              <a:buSzPts val="2750"/>
              <a:buFont typeface="Candara"/>
              <a:buNone/>
            </a:pPr>
            <a:r>
              <a:rPr b="1" i="0" lang="en-US" sz="2750" u="none" cap="none" strike="noStrike">
                <a:solidFill>
                  <a:srgbClr val="38512F"/>
                </a:solidFill>
                <a:latin typeface="Candara"/>
                <a:ea typeface="Candara"/>
                <a:cs typeface="Candara"/>
                <a:sym typeface="Candara"/>
              </a:rPr>
              <a:t>An Assistive Co-pilot for Radiology and Medical Education</a:t>
            </a:r>
            <a:endParaRPr b="1" i="0" sz="2750" u="none" cap="none" strike="noStrike">
              <a:solidFill>
                <a:schemeClr val="dk1"/>
              </a:solidFill>
              <a:latin typeface="Candara"/>
              <a:ea typeface="Candara"/>
              <a:cs typeface="Candara"/>
              <a:sym typeface="Candara"/>
            </a:endParaRPr>
          </a:p>
        </p:txBody>
      </p:sp>
      <p:sp>
        <p:nvSpPr>
          <p:cNvPr id="99" name="Google Shape;99;p1"/>
          <p:cNvSpPr/>
          <p:nvPr/>
        </p:nvSpPr>
        <p:spPr>
          <a:xfrm>
            <a:off x="837724" y="5259705"/>
            <a:ext cx="12954952" cy="478631"/>
          </a:xfrm>
          <a:prstGeom prst="rect">
            <a:avLst/>
          </a:prstGeom>
          <a:noFill/>
          <a:ln>
            <a:noFill/>
          </a:ln>
        </p:spPr>
        <p:txBody>
          <a:bodyPr anchorCtr="0" anchor="t" bIns="0" lIns="0" spcFirstLastPara="1" rIns="0" wrap="square" tIns="0">
            <a:noAutofit/>
          </a:bodyPr>
          <a:lstStyle/>
          <a:p>
            <a:pPr indent="0" lvl="0" marL="0" marR="0" rtl="0" algn="l">
              <a:lnSpc>
                <a:spcPct val="159574"/>
              </a:lnSpc>
              <a:spcBef>
                <a:spcPts val="0"/>
              </a:spcBef>
              <a:spcAft>
                <a:spcPts val="0"/>
              </a:spcAft>
              <a:buClr>
                <a:srgbClr val="3A3630"/>
              </a:buClr>
              <a:buSzPts val="2350"/>
              <a:buFont typeface="Candara"/>
              <a:buNone/>
            </a:pPr>
            <a:r>
              <a:rPr b="1" i="0" lang="en-US" sz="2350" u="none" cap="none" strike="noStrike">
                <a:solidFill>
                  <a:srgbClr val="3A3630"/>
                </a:solidFill>
                <a:latin typeface="Candara"/>
                <a:ea typeface="Candara"/>
                <a:cs typeface="Candara"/>
                <a:sym typeface="Candara"/>
              </a:rPr>
              <a:t>Presented By: ARYAN JAISWAL | Roll Number: 25SCS1003000967 </a:t>
            </a:r>
            <a:endParaRPr b="1" i="0" sz="2350" u="none" cap="none" strike="noStrike">
              <a:solidFill>
                <a:schemeClr val="dk1"/>
              </a:solidFill>
              <a:latin typeface="Candara"/>
              <a:ea typeface="Candara"/>
              <a:cs typeface="Candara"/>
              <a:sym typeface="Candara"/>
            </a:endParaRPr>
          </a:p>
        </p:txBody>
      </p:sp>
      <p:pic>
        <p:nvPicPr>
          <p:cNvPr descr="A blue and red logo&#10;&#10;AI-generated content may be incorrect." id="100" name="Google Shape;100;p1"/>
          <p:cNvPicPr preferRelativeResize="0"/>
          <p:nvPr/>
        </p:nvPicPr>
        <p:blipFill rotWithShape="1">
          <a:blip r:embed="rId4">
            <a:alphaModFix/>
          </a:blip>
          <a:srcRect b="0" l="0" r="0" t="0"/>
          <a:stretch/>
        </p:blipFill>
        <p:spPr>
          <a:xfrm>
            <a:off x="302465" y="378171"/>
            <a:ext cx="1070517" cy="1072576"/>
          </a:xfrm>
          <a:prstGeom prst="rect">
            <a:avLst/>
          </a:prstGeom>
          <a:noFill/>
          <a:ln>
            <a:noFill/>
          </a:ln>
        </p:spPr>
      </p:pic>
      <p:pic>
        <p:nvPicPr>
          <p:cNvPr descr="A doctor holding a blue question mark" id="101" name="Google Shape;101;p1"/>
          <p:cNvPicPr preferRelativeResize="0"/>
          <p:nvPr/>
        </p:nvPicPr>
        <p:blipFill rotWithShape="1">
          <a:blip r:embed="rId5">
            <a:alphaModFix/>
          </a:blip>
          <a:srcRect b="0" l="0" r="0" t="0"/>
          <a:stretch/>
        </p:blipFill>
        <p:spPr>
          <a:xfrm>
            <a:off x="10147609" y="5373628"/>
            <a:ext cx="3651839" cy="2198050"/>
          </a:xfrm>
          <a:prstGeom prst="rect">
            <a:avLst/>
          </a:prstGeom>
          <a:solidFill>
            <a:srgbClr val="ECECEC"/>
          </a:solidFill>
          <a:ln cap="rnd" cmpd="sng" w="190500">
            <a:solidFill>
              <a:srgbClr val="FFFFFF"/>
            </a:solidFill>
            <a:prstDash val="solid"/>
            <a:round/>
            <a:headEnd len="sm" w="sm" type="none"/>
            <a:tailEnd len="sm" w="sm" type="none"/>
          </a:ln>
          <a:effectLst>
            <a:outerShdw blurRad="36195" rotWithShape="0" algn="tl" dir="11400000" dist="12700">
              <a:srgbClr val="000000">
                <a:alpha val="32941"/>
              </a:srgbClr>
            </a:outerShdw>
          </a:effectLst>
        </p:spPr>
      </p:pic>
      <p:sp>
        <p:nvSpPr>
          <p:cNvPr id="102" name="Google Shape;102;p1"/>
          <p:cNvSpPr txBox="1"/>
          <p:nvPr/>
        </p:nvSpPr>
        <p:spPr>
          <a:xfrm>
            <a:off x="209949" y="1561424"/>
            <a:ext cx="203613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chemeClr val="dk1"/>
                </a:solidFill>
                <a:latin typeface="Candara"/>
                <a:ea typeface="Candara"/>
                <a:cs typeface="Candara"/>
                <a:sym typeface="Candara"/>
              </a:rPr>
              <a:t>IILM UNIVERSITY</a:t>
            </a:r>
            <a:endParaRPr b="1" i="0" sz="2000" u="none" cap="none" strike="noStrike">
              <a:solidFill>
                <a:schemeClr val="dk1"/>
              </a:solidFill>
              <a:latin typeface="Candara"/>
              <a:ea typeface="Candara"/>
              <a:cs typeface="Candara"/>
              <a:sym typeface="Candara"/>
            </a:endParaRPr>
          </a:p>
        </p:txBody>
      </p:sp>
      <p:sp>
        <p:nvSpPr>
          <p:cNvPr id="103" name="Google Shape;103;p1"/>
          <p:cNvSpPr txBox="1"/>
          <p:nvPr/>
        </p:nvSpPr>
        <p:spPr>
          <a:xfrm>
            <a:off x="830952" y="6753661"/>
            <a:ext cx="57705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andara"/>
                <a:ea typeface="Candara"/>
                <a:cs typeface="Candara"/>
                <a:sym typeface="Candara"/>
              </a:rPr>
              <a:t>UNDER THE SUPERVISION OF : MR. RAMAVATH GANESH</a:t>
            </a:r>
            <a:endParaRPr b="1" sz="1800">
              <a:solidFill>
                <a:schemeClr val="dk1"/>
              </a:solidFill>
              <a:latin typeface="Candara"/>
              <a:ea typeface="Candara"/>
              <a:cs typeface="Candara"/>
              <a:sym typeface="Canda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preencoded.png" id="109" name="Google Shape;109;p2"/>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110" name="Google Shape;110;p2"/>
          <p:cNvSpPr/>
          <p:nvPr/>
        </p:nvSpPr>
        <p:spPr>
          <a:xfrm>
            <a:off x="0" y="17399"/>
            <a:ext cx="14630400" cy="8229600"/>
          </a:xfrm>
          <a:prstGeom prst="rect">
            <a:avLst/>
          </a:prstGeom>
          <a:solidFill>
            <a:srgbClr val="FEF5E7">
              <a:alpha val="8470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Candara"/>
              <a:ea typeface="Candara"/>
              <a:cs typeface="Candara"/>
              <a:sym typeface="Candara"/>
            </a:endParaRPr>
          </a:p>
        </p:txBody>
      </p:sp>
      <p:sp>
        <p:nvSpPr>
          <p:cNvPr id="111" name="Google Shape;111;p2"/>
          <p:cNvSpPr/>
          <p:nvPr/>
        </p:nvSpPr>
        <p:spPr>
          <a:xfrm>
            <a:off x="837725" y="775800"/>
            <a:ext cx="6855900" cy="748800"/>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38512F"/>
              </a:buClr>
              <a:buSzPts val="4800"/>
              <a:buFont typeface="Candara"/>
              <a:buNone/>
            </a:pPr>
            <a:r>
              <a:rPr b="1" i="1" lang="en-US" sz="4800">
                <a:solidFill>
                  <a:srgbClr val="38512F"/>
                </a:solidFill>
                <a:latin typeface="Candara"/>
                <a:ea typeface="Candara"/>
                <a:cs typeface="Candara"/>
                <a:sym typeface="Candara"/>
              </a:rPr>
              <a:t>What is Medical VQA?</a:t>
            </a:r>
            <a:endParaRPr b="1" i="1" sz="4800">
              <a:solidFill>
                <a:schemeClr val="dk1"/>
              </a:solidFill>
              <a:latin typeface="Candara"/>
              <a:ea typeface="Candara"/>
              <a:cs typeface="Candara"/>
              <a:sym typeface="Candara"/>
            </a:endParaRPr>
          </a:p>
        </p:txBody>
      </p:sp>
      <p:sp>
        <p:nvSpPr>
          <p:cNvPr id="112" name="Google Shape;112;p2"/>
          <p:cNvSpPr/>
          <p:nvPr/>
        </p:nvSpPr>
        <p:spPr>
          <a:xfrm>
            <a:off x="837724" y="1680658"/>
            <a:ext cx="6240304" cy="622459"/>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This project introduces an advanced AI system that proficiently understands both </a:t>
            </a:r>
            <a:r>
              <a:rPr b="1" lang="en-US" sz="1800">
                <a:solidFill>
                  <a:srgbClr val="38512F"/>
                </a:solidFill>
                <a:latin typeface="Candara"/>
                <a:ea typeface="Candara"/>
                <a:cs typeface="Candara"/>
                <a:sym typeface="Candara"/>
              </a:rPr>
              <a:t>medical images and complex text queries</a:t>
            </a:r>
            <a:r>
              <a:rPr b="1" lang="en-US" sz="1800">
                <a:solidFill>
                  <a:srgbClr val="3A3630"/>
                </a:solidFill>
                <a:latin typeface="Candara"/>
                <a:ea typeface="Candara"/>
                <a:cs typeface="Candara"/>
                <a:sym typeface="Candara"/>
              </a:rPr>
              <a:t>.</a:t>
            </a:r>
            <a:endParaRPr b="1" sz="1800">
              <a:solidFill>
                <a:schemeClr val="dk1"/>
              </a:solidFill>
              <a:latin typeface="Candara"/>
              <a:ea typeface="Candara"/>
              <a:cs typeface="Candara"/>
              <a:sym typeface="Candara"/>
            </a:endParaRPr>
          </a:p>
        </p:txBody>
      </p:sp>
      <p:sp>
        <p:nvSpPr>
          <p:cNvPr id="113" name="Google Shape;113;p2"/>
          <p:cNvSpPr/>
          <p:nvPr/>
        </p:nvSpPr>
        <p:spPr>
          <a:xfrm>
            <a:off x="837724" y="2577496"/>
            <a:ext cx="6240304" cy="311229"/>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3A3630"/>
              </a:buClr>
              <a:buSzPts val="2800"/>
              <a:buFont typeface="Candara"/>
              <a:buNone/>
            </a:pPr>
            <a:r>
              <a:rPr b="1" lang="en-US" sz="2800">
                <a:solidFill>
                  <a:srgbClr val="3A3630"/>
                </a:solidFill>
                <a:latin typeface="Candara"/>
                <a:ea typeface="Candara"/>
                <a:cs typeface="Candara"/>
                <a:sym typeface="Candara"/>
              </a:rPr>
              <a:t>The model takes two inputs:</a:t>
            </a:r>
            <a:endParaRPr b="1" sz="2800">
              <a:solidFill>
                <a:schemeClr val="dk1"/>
              </a:solidFill>
              <a:latin typeface="Candara"/>
              <a:ea typeface="Candara"/>
              <a:cs typeface="Candara"/>
              <a:sym typeface="Candara"/>
            </a:endParaRPr>
          </a:p>
        </p:txBody>
      </p:sp>
      <p:sp>
        <p:nvSpPr>
          <p:cNvPr id="114" name="Google Shape;114;p2"/>
          <p:cNvSpPr/>
          <p:nvPr/>
        </p:nvSpPr>
        <p:spPr>
          <a:xfrm>
            <a:off x="860584" y="3096267"/>
            <a:ext cx="6240304"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A medical image (e.g., Chest X-ray, CT scan).</a:t>
            </a:r>
            <a:endParaRPr b="1" sz="1800">
              <a:solidFill>
                <a:schemeClr val="dk1"/>
              </a:solidFill>
              <a:latin typeface="Candara"/>
              <a:ea typeface="Candara"/>
              <a:cs typeface="Candara"/>
              <a:sym typeface="Candara"/>
            </a:endParaRPr>
          </a:p>
        </p:txBody>
      </p:sp>
      <p:sp>
        <p:nvSpPr>
          <p:cNvPr id="115" name="Google Shape;115;p2"/>
          <p:cNvSpPr/>
          <p:nvPr/>
        </p:nvSpPr>
        <p:spPr>
          <a:xfrm>
            <a:off x="837724" y="3523063"/>
            <a:ext cx="6240304"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A natural language question (e.g., "Is there evidence of pneumothorax?").</a:t>
            </a:r>
            <a:endParaRPr b="1" sz="1800">
              <a:solidFill>
                <a:schemeClr val="dk1"/>
              </a:solidFill>
              <a:latin typeface="Candara"/>
              <a:ea typeface="Candara"/>
              <a:cs typeface="Candara"/>
              <a:sym typeface="Candara"/>
            </a:endParaRPr>
          </a:p>
        </p:txBody>
      </p:sp>
      <p:sp>
        <p:nvSpPr>
          <p:cNvPr id="116" name="Google Shape;116;p2"/>
          <p:cNvSpPr/>
          <p:nvPr/>
        </p:nvSpPr>
        <p:spPr>
          <a:xfrm>
            <a:off x="837724" y="4140398"/>
            <a:ext cx="6240304" cy="622459"/>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It produces one accurate, text-based answer, such as: "Yes, a small pneumothorax is visible in the upper right lung field."</a:t>
            </a:r>
            <a:endParaRPr b="1" sz="1800">
              <a:solidFill>
                <a:schemeClr val="dk1"/>
              </a:solidFill>
              <a:latin typeface="Candara"/>
              <a:ea typeface="Candara"/>
              <a:cs typeface="Candara"/>
              <a:sym typeface="Candara"/>
            </a:endParaRPr>
          </a:p>
        </p:txBody>
      </p:sp>
      <p:sp>
        <p:nvSpPr>
          <p:cNvPr id="117" name="Google Shape;117;p2"/>
          <p:cNvSpPr/>
          <p:nvPr/>
        </p:nvSpPr>
        <p:spPr>
          <a:xfrm>
            <a:off x="983575" y="6747153"/>
            <a:ext cx="12663249" cy="311229"/>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A3630"/>
              </a:buClr>
              <a:buSzPts val="1500"/>
              <a:buFont typeface="Candara"/>
              <a:buNone/>
            </a:pPr>
            <a:r>
              <a:rPr b="1" lang="en-US" sz="1500">
                <a:solidFill>
                  <a:srgbClr val="3A3630"/>
                </a:solidFill>
                <a:latin typeface="Candara"/>
                <a:ea typeface="Candara"/>
                <a:cs typeface="Candara"/>
                <a:sym typeface="Candara"/>
              </a:rPr>
              <a:t>Our primary goal is to create a powerful assistive "co-pilot" for clinicians and to accelerate medical student training, not to replace medical professionals.</a:t>
            </a:r>
            <a:endParaRPr b="1" sz="1500">
              <a:solidFill>
                <a:schemeClr val="dk1"/>
              </a:solidFill>
              <a:latin typeface="Candara"/>
              <a:ea typeface="Candara"/>
              <a:cs typeface="Candara"/>
              <a:sym typeface="Candara"/>
            </a:endParaRPr>
          </a:p>
        </p:txBody>
      </p:sp>
      <p:sp>
        <p:nvSpPr>
          <p:cNvPr id="118" name="Google Shape;118;p2"/>
          <p:cNvSpPr/>
          <p:nvPr/>
        </p:nvSpPr>
        <p:spPr>
          <a:xfrm>
            <a:off x="837724" y="6528435"/>
            <a:ext cx="22860" cy="748665"/>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X-ray of a person's chest" id="119" name="Google Shape;119;p2"/>
          <p:cNvPicPr preferRelativeResize="0"/>
          <p:nvPr/>
        </p:nvPicPr>
        <p:blipFill rotWithShape="1">
          <a:blip r:embed="rId4">
            <a:alphaModFix/>
          </a:blip>
          <a:srcRect b="0" l="0" r="0" t="0"/>
          <a:stretch/>
        </p:blipFill>
        <p:spPr>
          <a:xfrm>
            <a:off x="983575" y="4937879"/>
            <a:ext cx="1767840" cy="1615531"/>
          </a:xfrm>
          <a:prstGeom prst="rect">
            <a:avLst/>
          </a:prstGeom>
          <a:noFill/>
          <a:ln>
            <a:noFill/>
          </a:ln>
        </p:spPr>
      </p:pic>
      <p:pic>
        <p:nvPicPr>
          <p:cNvPr descr="X-ray of a chest with a red object&#10;&#10;AI-generated content may be incorrect." id="120" name="Google Shape;120;p2"/>
          <p:cNvPicPr preferRelativeResize="0"/>
          <p:nvPr/>
        </p:nvPicPr>
        <p:blipFill rotWithShape="1">
          <a:blip r:embed="rId5">
            <a:alphaModFix/>
          </a:blip>
          <a:srcRect b="0" l="0" r="0" t="0"/>
          <a:stretch/>
        </p:blipFill>
        <p:spPr>
          <a:xfrm>
            <a:off x="3343751" y="4937879"/>
            <a:ext cx="1767840" cy="1590556"/>
          </a:xfrm>
          <a:prstGeom prst="rect">
            <a:avLst/>
          </a:prstGeom>
          <a:noFill/>
          <a:ln>
            <a:noFill/>
          </a:ln>
        </p:spPr>
      </p:pic>
      <p:pic>
        <p:nvPicPr>
          <p:cNvPr descr="A person looking at an x-ray&#10;&#10;AI-generated content may be incorrect." id="121" name="Google Shape;121;p2"/>
          <p:cNvPicPr preferRelativeResize="0"/>
          <p:nvPr/>
        </p:nvPicPr>
        <p:blipFill rotWithShape="1">
          <a:blip r:embed="rId6">
            <a:alphaModFix/>
          </a:blip>
          <a:srcRect b="0" l="0" r="0" t="0"/>
          <a:stretch/>
        </p:blipFill>
        <p:spPr>
          <a:xfrm>
            <a:off x="5703927" y="4937879"/>
            <a:ext cx="1767840" cy="1590557"/>
          </a:xfrm>
          <a:prstGeom prst="rect">
            <a:avLst/>
          </a:prstGeom>
          <a:noFill/>
          <a:ln>
            <a:noFill/>
          </a:ln>
        </p:spPr>
      </p:pic>
      <p:pic>
        <p:nvPicPr>
          <p:cNvPr descr="A person in a white coat holding a phone" id="122" name="Google Shape;122;p2"/>
          <p:cNvPicPr preferRelativeResize="0"/>
          <p:nvPr/>
        </p:nvPicPr>
        <p:blipFill rotWithShape="1">
          <a:blip r:embed="rId7">
            <a:alphaModFix/>
          </a:blip>
          <a:srcRect b="0" l="0" r="0" t="0"/>
          <a:stretch/>
        </p:blipFill>
        <p:spPr>
          <a:xfrm>
            <a:off x="8886346" y="684964"/>
            <a:ext cx="4495117" cy="440752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preencoded.png" id="128" name="Google Shape;128;p3"/>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129" name="Google Shape;129;p3"/>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837724" y="843558"/>
            <a:ext cx="10491311" cy="792004"/>
          </a:xfrm>
          <a:prstGeom prst="rect">
            <a:avLst/>
          </a:prstGeom>
          <a:noFill/>
          <a:ln>
            <a:noFill/>
          </a:ln>
        </p:spPr>
        <p:txBody>
          <a:bodyPr anchorCtr="0" anchor="t" bIns="0" lIns="0" spcFirstLastPara="1" rIns="0" wrap="square" tIns="0">
            <a:noAutofit/>
          </a:bodyPr>
          <a:lstStyle/>
          <a:p>
            <a:pPr indent="0" lvl="0" marL="0" marR="0" rtl="0" algn="l">
              <a:lnSpc>
                <a:spcPct val="125252"/>
              </a:lnSpc>
              <a:spcBef>
                <a:spcPts val="0"/>
              </a:spcBef>
              <a:spcAft>
                <a:spcPts val="0"/>
              </a:spcAft>
              <a:buClr>
                <a:srgbClr val="38512F"/>
              </a:buClr>
              <a:buSzPts val="4950"/>
              <a:buFont typeface="Candara"/>
              <a:buNone/>
            </a:pPr>
            <a:r>
              <a:rPr b="1" lang="en-US" sz="4950">
                <a:solidFill>
                  <a:srgbClr val="38512F"/>
                </a:solidFill>
                <a:latin typeface="Candara"/>
                <a:ea typeface="Candara"/>
                <a:cs typeface="Candara"/>
                <a:sym typeface="Candara"/>
              </a:rPr>
              <a:t>The Challenge in Modern Radiology</a:t>
            </a:r>
            <a:endParaRPr b="1" sz="4950">
              <a:solidFill>
                <a:schemeClr val="dk1"/>
              </a:solidFill>
              <a:latin typeface="Candara"/>
              <a:ea typeface="Candara"/>
              <a:cs typeface="Candara"/>
              <a:sym typeface="Candara"/>
            </a:endParaRPr>
          </a:p>
        </p:txBody>
      </p:sp>
      <p:sp>
        <p:nvSpPr>
          <p:cNvPr id="131" name="Google Shape;131;p3"/>
          <p:cNvSpPr/>
          <p:nvPr/>
        </p:nvSpPr>
        <p:spPr>
          <a:xfrm>
            <a:off x="837724" y="2443282"/>
            <a:ext cx="4138851" cy="4942642"/>
          </a:xfrm>
          <a:prstGeom prst="roundRect">
            <a:avLst>
              <a:gd fmla="val 3535"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837724" y="2412802"/>
            <a:ext cx="4138851" cy="121920"/>
          </a:xfrm>
          <a:prstGeom prst="roundRect">
            <a:avLst>
              <a:gd fmla="val 33133"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2503230" y="2039422"/>
            <a:ext cx="807839" cy="807839"/>
          </a:xfrm>
          <a:prstGeom prst="roundRect">
            <a:avLst>
              <a:gd fmla="val 113191"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2745522" y="2241352"/>
            <a:ext cx="323136" cy="403860"/>
          </a:xfrm>
          <a:prstGeom prst="rect">
            <a:avLst/>
          </a:prstGeom>
          <a:noFill/>
          <a:ln>
            <a:noFill/>
          </a:ln>
        </p:spPr>
        <p:txBody>
          <a:bodyPr anchorCtr="0" anchor="t" bIns="0" lIns="0" spcFirstLastPara="1" rIns="0" wrap="square" tIns="0">
            <a:noAutofit/>
          </a:bodyPr>
          <a:lstStyle/>
          <a:p>
            <a:pPr indent="0" lvl="0" marL="0" marR="0" rtl="0" algn="l">
              <a:lnSpc>
                <a:spcPct val="162000"/>
              </a:lnSpc>
              <a:spcBef>
                <a:spcPts val="0"/>
              </a:spcBef>
              <a:spcAft>
                <a:spcPts val="0"/>
              </a:spcAft>
              <a:buClr>
                <a:srgbClr val="FFFFFF"/>
              </a:buClr>
              <a:buSzPts val="2500"/>
              <a:buFont typeface="Candara"/>
              <a:buNone/>
            </a:pPr>
            <a:r>
              <a:rPr b="1" lang="en-US" sz="2500">
                <a:solidFill>
                  <a:srgbClr val="FFFFFF"/>
                </a:solidFill>
                <a:latin typeface="Candara"/>
                <a:ea typeface="Candara"/>
                <a:cs typeface="Candara"/>
                <a:sym typeface="Candara"/>
              </a:rPr>
              <a:t>1</a:t>
            </a:r>
            <a:endParaRPr b="1" sz="2500">
              <a:solidFill>
                <a:schemeClr val="dk1"/>
              </a:solidFill>
              <a:latin typeface="Candara"/>
              <a:ea typeface="Candara"/>
              <a:cs typeface="Candara"/>
              <a:sym typeface="Candara"/>
            </a:endParaRPr>
          </a:p>
        </p:txBody>
      </p:sp>
      <p:sp>
        <p:nvSpPr>
          <p:cNvPr id="135" name="Google Shape;135;p3"/>
          <p:cNvSpPr/>
          <p:nvPr/>
        </p:nvSpPr>
        <p:spPr>
          <a:xfrm>
            <a:off x="1137404" y="3116461"/>
            <a:ext cx="3539490" cy="792004"/>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3A3630"/>
              </a:buClr>
              <a:buSzPts val="2450"/>
              <a:buFont typeface="Candara"/>
              <a:buNone/>
            </a:pPr>
            <a:r>
              <a:rPr b="1" lang="en-US" sz="2450">
                <a:solidFill>
                  <a:srgbClr val="3A3630"/>
                </a:solidFill>
                <a:latin typeface="Candara"/>
                <a:ea typeface="Candara"/>
                <a:cs typeface="Candara"/>
                <a:sym typeface="Candara"/>
              </a:rPr>
              <a:t>Clinician Burnout &amp; Diagnostic Error</a:t>
            </a:r>
            <a:endParaRPr b="1" sz="2450">
              <a:solidFill>
                <a:schemeClr val="dk1"/>
              </a:solidFill>
              <a:latin typeface="Candara"/>
              <a:ea typeface="Candara"/>
              <a:cs typeface="Candara"/>
              <a:sym typeface="Candara"/>
            </a:endParaRPr>
          </a:p>
        </p:txBody>
      </p:sp>
      <p:sp>
        <p:nvSpPr>
          <p:cNvPr id="136" name="Google Shape;136;p3"/>
          <p:cNvSpPr/>
          <p:nvPr/>
        </p:nvSpPr>
        <p:spPr>
          <a:xfrm>
            <a:off x="1137404" y="4070033"/>
            <a:ext cx="3539490" cy="2585323"/>
          </a:xfrm>
          <a:prstGeom prst="rect">
            <a:avLst/>
          </a:prstGeom>
          <a:noFill/>
          <a:ln>
            <a:noFill/>
          </a:ln>
        </p:spPr>
        <p:txBody>
          <a:bodyPr anchorCtr="0" anchor="t" bIns="0" lIns="0" spcFirstLastPara="1" rIns="0" wrap="square" tIns="0">
            <a:noAutofit/>
          </a:bodyPr>
          <a:lstStyle/>
          <a:p>
            <a:pPr indent="0" lvl="0" marL="0" marR="0" rtl="0" algn="l">
              <a:lnSpc>
                <a:spcPct val="159523"/>
              </a:lnSpc>
              <a:spcBef>
                <a:spcPts val="0"/>
              </a:spcBef>
              <a:spcAft>
                <a:spcPts val="0"/>
              </a:spcAft>
              <a:buClr>
                <a:srgbClr val="3A3630"/>
              </a:buClr>
              <a:buSzPts val="2100"/>
              <a:buFont typeface="Candara"/>
              <a:buNone/>
            </a:pPr>
            <a:r>
              <a:rPr b="1" lang="en-US" sz="2100">
                <a:solidFill>
                  <a:srgbClr val="3A3630"/>
                </a:solidFill>
                <a:latin typeface="Candara"/>
                <a:ea typeface="Candara"/>
                <a:cs typeface="Candara"/>
                <a:sym typeface="Candara"/>
              </a:rPr>
              <a:t>Radiologists face overwhelming workloads, reviewing hundreds of complex images daily, leading to fatigue and an increased risk of diagnostic errors.</a:t>
            </a:r>
            <a:endParaRPr b="1" sz="2100">
              <a:solidFill>
                <a:schemeClr val="dk1"/>
              </a:solidFill>
              <a:latin typeface="Candara"/>
              <a:ea typeface="Candara"/>
              <a:cs typeface="Candara"/>
              <a:sym typeface="Candara"/>
            </a:endParaRPr>
          </a:p>
        </p:txBody>
      </p:sp>
      <p:sp>
        <p:nvSpPr>
          <p:cNvPr id="137" name="Google Shape;137;p3"/>
          <p:cNvSpPr/>
          <p:nvPr/>
        </p:nvSpPr>
        <p:spPr>
          <a:xfrm>
            <a:off x="5245775" y="2443282"/>
            <a:ext cx="4138851" cy="4942642"/>
          </a:xfrm>
          <a:prstGeom prst="roundRect">
            <a:avLst>
              <a:gd fmla="val 3535"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5245775" y="2412802"/>
            <a:ext cx="4138851" cy="121920"/>
          </a:xfrm>
          <a:prstGeom prst="roundRect">
            <a:avLst>
              <a:gd fmla="val 33133"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6911280" y="2039422"/>
            <a:ext cx="807839" cy="807839"/>
          </a:xfrm>
          <a:prstGeom prst="roundRect">
            <a:avLst>
              <a:gd fmla="val 113191"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7153573" y="2241352"/>
            <a:ext cx="323136" cy="403860"/>
          </a:xfrm>
          <a:prstGeom prst="rect">
            <a:avLst/>
          </a:prstGeom>
          <a:noFill/>
          <a:ln>
            <a:noFill/>
          </a:ln>
        </p:spPr>
        <p:txBody>
          <a:bodyPr anchorCtr="0" anchor="t" bIns="0" lIns="0" spcFirstLastPara="1" rIns="0" wrap="square" tIns="0">
            <a:noAutofit/>
          </a:bodyPr>
          <a:lstStyle/>
          <a:p>
            <a:pPr indent="0" lvl="0" marL="0" marR="0" rtl="0" algn="l">
              <a:lnSpc>
                <a:spcPct val="162000"/>
              </a:lnSpc>
              <a:spcBef>
                <a:spcPts val="0"/>
              </a:spcBef>
              <a:spcAft>
                <a:spcPts val="0"/>
              </a:spcAft>
              <a:buClr>
                <a:srgbClr val="FFFFFF"/>
              </a:buClr>
              <a:buSzPts val="2500"/>
              <a:buFont typeface="Candara"/>
              <a:buNone/>
            </a:pPr>
            <a:r>
              <a:rPr b="1" lang="en-US" sz="2500">
                <a:solidFill>
                  <a:srgbClr val="FFFFFF"/>
                </a:solidFill>
                <a:latin typeface="Candara"/>
                <a:ea typeface="Candara"/>
                <a:cs typeface="Candara"/>
                <a:sym typeface="Candara"/>
              </a:rPr>
              <a:t>2</a:t>
            </a:r>
            <a:endParaRPr b="1" sz="2500">
              <a:solidFill>
                <a:schemeClr val="dk1"/>
              </a:solidFill>
              <a:latin typeface="Candara"/>
              <a:ea typeface="Candara"/>
              <a:cs typeface="Candara"/>
              <a:sym typeface="Candara"/>
            </a:endParaRPr>
          </a:p>
        </p:txBody>
      </p:sp>
      <p:sp>
        <p:nvSpPr>
          <p:cNvPr id="141" name="Google Shape;141;p3"/>
          <p:cNvSpPr/>
          <p:nvPr/>
        </p:nvSpPr>
        <p:spPr>
          <a:xfrm>
            <a:off x="5545455" y="3116461"/>
            <a:ext cx="3539490" cy="792004"/>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3A3630"/>
              </a:buClr>
              <a:buSzPts val="2450"/>
              <a:buFont typeface="Candara"/>
              <a:buNone/>
            </a:pPr>
            <a:r>
              <a:rPr b="1" lang="en-US" sz="2450">
                <a:solidFill>
                  <a:srgbClr val="3A3630"/>
                </a:solidFill>
                <a:latin typeface="Candara"/>
                <a:ea typeface="Candara"/>
                <a:cs typeface="Candara"/>
                <a:sym typeface="Candara"/>
              </a:rPr>
              <a:t>The Medical Training Bottleneck</a:t>
            </a:r>
            <a:endParaRPr b="1" sz="2450">
              <a:solidFill>
                <a:schemeClr val="dk1"/>
              </a:solidFill>
              <a:latin typeface="Candara"/>
              <a:ea typeface="Candara"/>
              <a:cs typeface="Candara"/>
              <a:sym typeface="Candara"/>
            </a:endParaRPr>
          </a:p>
        </p:txBody>
      </p:sp>
      <p:sp>
        <p:nvSpPr>
          <p:cNvPr id="142" name="Google Shape;142;p3"/>
          <p:cNvSpPr/>
          <p:nvPr/>
        </p:nvSpPr>
        <p:spPr>
          <a:xfrm>
            <a:off x="5545455" y="4070033"/>
            <a:ext cx="3539490" cy="2585323"/>
          </a:xfrm>
          <a:prstGeom prst="rect">
            <a:avLst/>
          </a:prstGeom>
          <a:noFill/>
          <a:ln>
            <a:noFill/>
          </a:ln>
        </p:spPr>
        <p:txBody>
          <a:bodyPr anchorCtr="0" anchor="t" bIns="0" lIns="0" spcFirstLastPara="1" rIns="0" wrap="square" tIns="0">
            <a:noAutofit/>
          </a:bodyPr>
          <a:lstStyle/>
          <a:p>
            <a:pPr indent="0" lvl="0" marL="0" marR="0" rtl="0" algn="l">
              <a:lnSpc>
                <a:spcPct val="159523"/>
              </a:lnSpc>
              <a:spcBef>
                <a:spcPts val="0"/>
              </a:spcBef>
              <a:spcAft>
                <a:spcPts val="0"/>
              </a:spcAft>
              <a:buClr>
                <a:srgbClr val="3A3630"/>
              </a:buClr>
              <a:buSzPts val="2100"/>
              <a:buFont typeface="Candara"/>
              <a:buNone/>
            </a:pPr>
            <a:r>
              <a:rPr b="1" lang="en-US" sz="2100">
                <a:solidFill>
                  <a:srgbClr val="3A3630"/>
                </a:solidFill>
                <a:latin typeface="Candara"/>
                <a:ea typeface="Candara"/>
                <a:cs typeface="Candara"/>
                <a:sym typeface="Candara"/>
              </a:rPr>
              <a:t>Learning radiology is a prolonged "apprenticeship" requiring constant expert supervision. Students lack 24/7 interactive tools for immediate feedback.</a:t>
            </a:r>
            <a:endParaRPr b="1" sz="2100">
              <a:solidFill>
                <a:schemeClr val="dk1"/>
              </a:solidFill>
              <a:latin typeface="Candara"/>
              <a:ea typeface="Candara"/>
              <a:cs typeface="Candara"/>
              <a:sym typeface="Candara"/>
            </a:endParaRPr>
          </a:p>
        </p:txBody>
      </p:sp>
      <p:sp>
        <p:nvSpPr>
          <p:cNvPr id="143" name="Google Shape;143;p3"/>
          <p:cNvSpPr/>
          <p:nvPr/>
        </p:nvSpPr>
        <p:spPr>
          <a:xfrm>
            <a:off x="9653826" y="2443282"/>
            <a:ext cx="4138851" cy="4942642"/>
          </a:xfrm>
          <a:prstGeom prst="roundRect">
            <a:avLst>
              <a:gd fmla="val 3535"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9653826" y="2412802"/>
            <a:ext cx="4138851" cy="121920"/>
          </a:xfrm>
          <a:prstGeom prst="roundRect">
            <a:avLst>
              <a:gd fmla="val 33133"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11319331" y="2039422"/>
            <a:ext cx="807839" cy="807839"/>
          </a:xfrm>
          <a:prstGeom prst="roundRect">
            <a:avLst>
              <a:gd fmla="val 113191"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11561624" y="2241352"/>
            <a:ext cx="323136" cy="403860"/>
          </a:xfrm>
          <a:prstGeom prst="rect">
            <a:avLst/>
          </a:prstGeom>
          <a:noFill/>
          <a:ln>
            <a:noFill/>
          </a:ln>
        </p:spPr>
        <p:txBody>
          <a:bodyPr anchorCtr="0" anchor="t" bIns="0" lIns="0" spcFirstLastPara="1" rIns="0" wrap="square" tIns="0">
            <a:noAutofit/>
          </a:bodyPr>
          <a:lstStyle/>
          <a:p>
            <a:pPr indent="0" lvl="0" marL="0" marR="0" rtl="0" algn="l">
              <a:lnSpc>
                <a:spcPct val="162000"/>
              </a:lnSpc>
              <a:spcBef>
                <a:spcPts val="0"/>
              </a:spcBef>
              <a:spcAft>
                <a:spcPts val="0"/>
              </a:spcAft>
              <a:buClr>
                <a:srgbClr val="FFFFFF"/>
              </a:buClr>
              <a:buSzPts val="2500"/>
              <a:buFont typeface="Candara"/>
              <a:buNone/>
            </a:pPr>
            <a:r>
              <a:rPr b="1" lang="en-US" sz="2500">
                <a:solidFill>
                  <a:srgbClr val="FFFFFF"/>
                </a:solidFill>
                <a:latin typeface="Candara"/>
                <a:ea typeface="Candara"/>
                <a:cs typeface="Candara"/>
                <a:sym typeface="Candara"/>
              </a:rPr>
              <a:t>3</a:t>
            </a:r>
            <a:endParaRPr b="1" sz="2500">
              <a:solidFill>
                <a:schemeClr val="dk1"/>
              </a:solidFill>
              <a:latin typeface="Candara"/>
              <a:ea typeface="Candara"/>
              <a:cs typeface="Candara"/>
              <a:sym typeface="Candara"/>
            </a:endParaRPr>
          </a:p>
        </p:txBody>
      </p:sp>
      <p:sp>
        <p:nvSpPr>
          <p:cNvPr id="147" name="Google Shape;147;p3"/>
          <p:cNvSpPr/>
          <p:nvPr/>
        </p:nvSpPr>
        <p:spPr>
          <a:xfrm>
            <a:off x="9953506" y="3116461"/>
            <a:ext cx="3539490" cy="792004"/>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3A3630"/>
              </a:buClr>
              <a:buSzPts val="2450"/>
              <a:buFont typeface="Candara"/>
              <a:buNone/>
            </a:pPr>
            <a:r>
              <a:rPr b="1" lang="en-US" sz="2450">
                <a:solidFill>
                  <a:srgbClr val="3A3630"/>
                </a:solidFill>
                <a:latin typeface="Candara"/>
                <a:ea typeface="Candara"/>
                <a:cs typeface="Candara"/>
                <a:sym typeface="Candara"/>
              </a:rPr>
              <a:t>Ambiguity &amp; Data Scarcity</a:t>
            </a:r>
            <a:endParaRPr b="1" sz="2450">
              <a:solidFill>
                <a:schemeClr val="dk1"/>
              </a:solidFill>
              <a:latin typeface="Candara"/>
              <a:ea typeface="Candara"/>
              <a:cs typeface="Candara"/>
              <a:sym typeface="Candara"/>
            </a:endParaRPr>
          </a:p>
        </p:txBody>
      </p:sp>
      <p:sp>
        <p:nvSpPr>
          <p:cNvPr id="148" name="Google Shape;148;p3"/>
          <p:cNvSpPr/>
          <p:nvPr/>
        </p:nvSpPr>
        <p:spPr>
          <a:xfrm>
            <a:off x="9953506" y="4070033"/>
            <a:ext cx="3539490" cy="3016210"/>
          </a:xfrm>
          <a:prstGeom prst="rect">
            <a:avLst/>
          </a:prstGeom>
          <a:noFill/>
          <a:ln>
            <a:noFill/>
          </a:ln>
        </p:spPr>
        <p:txBody>
          <a:bodyPr anchorCtr="0" anchor="t" bIns="0" lIns="0" spcFirstLastPara="1" rIns="0" wrap="square" tIns="0">
            <a:noAutofit/>
          </a:bodyPr>
          <a:lstStyle/>
          <a:p>
            <a:pPr indent="0" lvl="0" marL="0" marR="0" rtl="0" algn="l">
              <a:lnSpc>
                <a:spcPct val="159523"/>
              </a:lnSpc>
              <a:spcBef>
                <a:spcPts val="0"/>
              </a:spcBef>
              <a:spcAft>
                <a:spcPts val="0"/>
              </a:spcAft>
              <a:buClr>
                <a:srgbClr val="3A3630"/>
              </a:buClr>
              <a:buSzPts val="2100"/>
              <a:buFont typeface="Candara"/>
              <a:buNone/>
            </a:pPr>
            <a:r>
              <a:rPr b="1" lang="en-US" sz="2100">
                <a:solidFill>
                  <a:srgbClr val="3A3630"/>
                </a:solidFill>
                <a:latin typeface="Candara"/>
                <a:ea typeface="Candara"/>
                <a:cs typeface="Candara"/>
                <a:sym typeface="Candara"/>
              </a:rPr>
              <a:t>Medical questions are inherently complex. Building robust AI demands massive, high-quality datasets annotated by medical experts, which are difficult and expensive to procure.</a:t>
            </a:r>
            <a:endParaRPr b="1" sz="2100">
              <a:solidFill>
                <a:schemeClr val="dk1"/>
              </a:solidFill>
              <a:latin typeface="Candara"/>
              <a:ea typeface="Candara"/>
              <a:cs typeface="Candara"/>
              <a:sym typeface="Canda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preencoded.png" id="154" name="Google Shape;154;p4"/>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155" name="Google Shape;155;p4"/>
          <p:cNvSpPr/>
          <p:nvPr/>
        </p:nvSpPr>
        <p:spPr>
          <a:xfrm>
            <a:off x="0" y="0"/>
            <a:ext cx="14630400" cy="833247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146350" y="280375"/>
            <a:ext cx="11357700" cy="583500"/>
          </a:xfrm>
          <a:prstGeom prst="rect">
            <a:avLst/>
          </a:prstGeom>
          <a:noFill/>
          <a:ln>
            <a:noFill/>
          </a:ln>
        </p:spPr>
        <p:txBody>
          <a:bodyPr anchorCtr="0" anchor="t" bIns="0" lIns="0" spcFirstLastPara="1" rIns="0" wrap="square" tIns="0">
            <a:noAutofit/>
          </a:bodyPr>
          <a:lstStyle/>
          <a:p>
            <a:pPr indent="0" lvl="0" marL="0" marR="0" rtl="0" algn="l">
              <a:lnSpc>
                <a:spcPct val="102272"/>
              </a:lnSpc>
              <a:spcBef>
                <a:spcPts val="0"/>
              </a:spcBef>
              <a:spcAft>
                <a:spcPts val="0"/>
              </a:spcAft>
              <a:buClr>
                <a:srgbClr val="38512F"/>
              </a:buClr>
              <a:buSzPts val="4400"/>
              <a:buFont typeface="Candara"/>
              <a:buNone/>
            </a:pPr>
            <a:r>
              <a:rPr b="1" lang="en-US" sz="4400">
                <a:solidFill>
                  <a:srgbClr val="38512F"/>
                </a:solidFill>
                <a:latin typeface="Candara"/>
                <a:ea typeface="Candara"/>
                <a:cs typeface="Candara"/>
                <a:sym typeface="Candara"/>
              </a:rPr>
              <a:t>Our Solution: A Smart, Interactive AI Co-pilot</a:t>
            </a:r>
            <a:endParaRPr b="1" sz="4400">
              <a:solidFill>
                <a:schemeClr val="dk1"/>
              </a:solidFill>
              <a:latin typeface="Candara"/>
              <a:ea typeface="Candara"/>
              <a:cs typeface="Candara"/>
              <a:sym typeface="Candara"/>
            </a:endParaRPr>
          </a:p>
        </p:txBody>
      </p:sp>
      <p:sp>
        <p:nvSpPr>
          <p:cNvPr id="157" name="Google Shape;157;p4"/>
          <p:cNvSpPr/>
          <p:nvPr/>
        </p:nvSpPr>
        <p:spPr>
          <a:xfrm>
            <a:off x="313617" y="1246108"/>
            <a:ext cx="6380202" cy="2814280"/>
          </a:xfrm>
          <a:prstGeom prst="roundRect">
            <a:avLst>
              <a:gd fmla="val 1037"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305303" y="1194235"/>
            <a:ext cx="583406" cy="583406"/>
          </a:xfrm>
          <a:prstGeom prst="roundRect">
            <a:avLst>
              <a:gd fmla="val 15671909"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4"/>
          <p:cNvPicPr preferRelativeResize="0"/>
          <p:nvPr/>
        </p:nvPicPr>
        <p:blipFill rotWithShape="1">
          <a:blip r:embed="rId4">
            <a:alphaModFix/>
          </a:blip>
          <a:srcRect b="0" l="0" r="0" t="0"/>
          <a:stretch/>
        </p:blipFill>
        <p:spPr>
          <a:xfrm>
            <a:off x="465740" y="1371058"/>
            <a:ext cx="262533" cy="262533"/>
          </a:xfrm>
          <a:prstGeom prst="rect">
            <a:avLst/>
          </a:prstGeom>
          <a:noFill/>
          <a:ln>
            <a:noFill/>
          </a:ln>
        </p:spPr>
      </p:pic>
      <p:sp>
        <p:nvSpPr>
          <p:cNvPr id="160" name="Google Shape;160;p4"/>
          <p:cNvSpPr/>
          <p:nvPr/>
        </p:nvSpPr>
        <p:spPr>
          <a:xfrm>
            <a:off x="471487" y="1886088"/>
            <a:ext cx="2288143" cy="285988"/>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3A3630"/>
              </a:buClr>
              <a:buSzPts val="2400"/>
              <a:buFont typeface="Candara"/>
              <a:buNone/>
            </a:pPr>
            <a:r>
              <a:rPr b="1" lang="en-US" sz="2400">
                <a:solidFill>
                  <a:srgbClr val="3A3630"/>
                </a:solidFill>
                <a:latin typeface="Candara"/>
                <a:ea typeface="Candara"/>
                <a:cs typeface="Candara"/>
                <a:sym typeface="Candara"/>
              </a:rPr>
              <a:t>For Clinicians</a:t>
            </a:r>
            <a:endParaRPr b="1" sz="2400">
              <a:solidFill>
                <a:schemeClr val="dk1"/>
              </a:solidFill>
              <a:latin typeface="Candara"/>
              <a:ea typeface="Candara"/>
              <a:cs typeface="Candara"/>
              <a:sym typeface="Candara"/>
            </a:endParaRPr>
          </a:p>
        </p:txBody>
      </p:sp>
      <p:sp>
        <p:nvSpPr>
          <p:cNvPr id="161" name="Google Shape;161;p4"/>
          <p:cNvSpPr/>
          <p:nvPr/>
        </p:nvSpPr>
        <p:spPr>
          <a:xfrm>
            <a:off x="465740" y="2265036"/>
            <a:ext cx="5991344" cy="1244918"/>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Our Med-VQA system acts as an AI co-pilot, offering a crucial "second look" to significantly reduce cognitive load. It answers specific, on-the-fly questions like "Where is the lesion located?", helping to verify findings and minimise errors.</a:t>
            </a:r>
            <a:endParaRPr b="1" sz="1800">
              <a:solidFill>
                <a:schemeClr val="dk1"/>
              </a:solidFill>
              <a:latin typeface="Candara"/>
              <a:ea typeface="Candara"/>
              <a:cs typeface="Candara"/>
              <a:sym typeface="Candara"/>
            </a:endParaRPr>
          </a:p>
        </p:txBody>
      </p:sp>
      <p:sp>
        <p:nvSpPr>
          <p:cNvPr id="162" name="Google Shape;162;p4"/>
          <p:cNvSpPr/>
          <p:nvPr/>
        </p:nvSpPr>
        <p:spPr>
          <a:xfrm>
            <a:off x="7248527" y="4312207"/>
            <a:ext cx="6380321" cy="2814280"/>
          </a:xfrm>
          <a:prstGeom prst="roundRect">
            <a:avLst>
              <a:gd fmla="val 1037"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7554451" y="4333711"/>
            <a:ext cx="583406" cy="583406"/>
          </a:xfrm>
          <a:prstGeom prst="roundRect">
            <a:avLst>
              <a:gd fmla="val 15671909"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4"/>
          <p:cNvPicPr preferRelativeResize="0"/>
          <p:nvPr/>
        </p:nvPicPr>
        <p:blipFill rotWithShape="1">
          <a:blip r:embed="rId5">
            <a:alphaModFix/>
          </a:blip>
          <a:srcRect b="0" l="0" r="0" t="0"/>
          <a:stretch/>
        </p:blipFill>
        <p:spPr>
          <a:xfrm>
            <a:off x="7714887" y="4415432"/>
            <a:ext cx="262533" cy="262533"/>
          </a:xfrm>
          <a:prstGeom prst="rect">
            <a:avLst/>
          </a:prstGeom>
          <a:noFill/>
          <a:ln>
            <a:noFill/>
          </a:ln>
        </p:spPr>
      </p:pic>
      <p:sp>
        <p:nvSpPr>
          <p:cNvPr id="165" name="Google Shape;165;p4"/>
          <p:cNvSpPr/>
          <p:nvPr/>
        </p:nvSpPr>
        <p:spPr>
          <a:xfrm>
            <a:off x="7606784" y="5040466"/>
            <a:ext cx="2288143" cy="285988"/>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3A3630"/>
              </a:buClr>
              <a:buSzPts val="2400"/>
              <a:buFont typeface="Candara"/>
              <a:buNone/>
            </a:pPr>
            <a:r>
              <a:rPr b="1" lang="en-US" sz="2400">
                <a:solidFill>
                  <a:srgbClr val="3A3630"/>
                </a:solidFill>
                <a:latin typeface="Candara"/>
                <a:ea typeface="Candara"/>
                <a:cs typeface="Candara"/>
                <a:sym typeface="Candara"/>
              </a:rPr>
              <a:t>For Medical Students</a:t>
            </a:r>
            <a:endParaRPr b="1" sz="2400">
              <a:solidFill>
                <a:schemeClr val="dk1"/>
              </a:solidFill>
              <a:latin typeface="Candara"/>
              <a:ea typeface="Candara"/>
              <a:cs typeface="Candara"/>
              <a:sym typeface="Candara"/>
            </a:endParaRPr>
          </a:p>
        </p:txBody>
      </p:sp>
      <p:sp>
        <p:nvSpPr>
          <p:cNvPr id="166" name="Google Shape;166;p4"/>
          <p:cNvSpPr/>
          <p:nvPr/>
        </p:nvSpPr>
        <p:spPr>
          <a:xfrm>
            <a:off x="7606784" y="5435279"/>
            <a:ext cx="5991463" cy="933688"/>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It functions as a 24/7 virtual tutor, enabling students to independently upload scans, ask questions, and receive instant, accurate answers. This radically accelerates the learning process and builds confidence.</a:t>
            </a:r>
            <a:endParaRPr b="1" sz="1800">
              <a:solidFill>
                <a:schemeClr val="dk1"/>
              </a:solidFill>
              <a:latin typeface="Candara"/>
              <a:ea typeface="Candara"/>
              <a:cs typeface="Candara"/>
              <a:sym typeface="Candara"/>
            </a:endParaRPr>
          </a:p>
        </p:txBody>
      </p:sp>
      <p:pic>
        <p:nvPicPr>
          <p:cNvPr descr="A blue and white logo&#10;&#10;AI-generated content may be incorrect." id="167" name="Google Shape;167;p4"/>
          <p:cNvPicPr preferRelativeResize="0"/>
          <p:nvPr/>
        </p:nvPicPr>
        <p:blipFill rotWithShape="1">
          <a:blip r:embed="rId6">
            <a:alphaModFix/>
          </a:blip>
          <a:srcRect b="0" l="0" r="0" t="0"/>
          <a:stretch/>
        </p:blipFill>
        <p:spPr>
          <a:xfrm>
            <a:off x="11839033" y="153407"/>
            <a:ext cx="1673230" cy="1673230"/>
          </a:xfrm>
          <a:prstGeom prst="rect">
            <a:avLst/>
          </a:prstGeom>
          <a:noFill/>
          <a:ln>
            <a:noFill/>
          </a:ln>
        </p:spPr>
      </p:pic>
      <p:sp>
        <p:nvSpPr>
          <p:cNvPr id="168" name="Google Shape;168;p4"/>
          <p:cNvSpPr txBox="1"/>
          <p:nvPr/>
        </p:nvSpPr>
        <p:spPr>
          <a:xfrm>
            <a:off x="10559523" y="1944705"/>
            <a:ext cx="42322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ndara"/>
                <a:ea typeface="Candara"/>
                <a:cs typeface="Candara"/>
                <a:sym typeface="Candara"/>
              </a:rPr>
              <a:t>MEDICAL VISUAL QUESTION ANSWERING</a:t>
            </a:r>
            <a:endParaRPr b="1" sz="1800">
              <a:solidFill>
                <a:schemeClr val="dk1"/>
              </a:solidFill>
              <a:latin typeface="Candara"/>
              <a:ea typeface="Candara"/>
              <a:cs typeface="Candara"/>
              <a:sym typeface="Candara"/>
            </a:endParaRPr>
          </a:p>
        </p:txBody>
      </p:sp>
      <p:pic>
        <p:nvPicPr>
          <p:cNvPr descr="A person in a white coat using a tablet&#10;&#10;AI-generated content may be incorrect." id="169" name="Google Shape;169;p4"/>
          <p:cNvPicPr preferRelativeResize="0"/>
          <p:nvPr/>
        </p:nvPicPr>
        <p:blipFill rotWithShape="1">
          <a:blip r:embed="rId7">
            <a:alphaModFix/>
          </a:blip>
          <a:srcRect b="0" l="0" r="0" t="0"/>
          <a:stretch/>
        </p:blipFill>
        <p:spPr>
          <a:xfrm>
            <a:off x="1580939" y="4677965"/>
            <a:ext cx="2935305" cy="29353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preencoded.png" id="175" name="Google Shape;175;p5"/>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176" name="Google Shape;176;p5"/>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837726" y="528919"/>
            <a:ext cx="11692800" cy="866100"/>
          </a:xfrm>
          <a:prstGeom prst="rect">
            <a:avLst/>
          </a:prstGeom>
          <a:noFill/>
          <a:ln>
            <a:noFill/>
          </a:ln>
        </p:spPr>
        <p:txBody>
          <a:bodyPr anchorCtr="0" anchor="t" bIns="0" lIns="0" spcFirstLastPara="1" rIns="0" wrap="square" tIns="0">
            <a:noAutofit/>
          </a:bodyPr>
          <a:lstStyle/>
          <a:p>
            <a:pPr indent="0" lvl="0" marL="0" marR="0" rtl="0" algn="l">
              <a:lnSpc>
                <a:spcPct val="102272"/>
              </a:lnSpc>
              <a:spcBef>
                <a:spcPts val="0"/>
              </a:spcBef>
              <a:spcAft>
                <a:spcPts val="0"/>
              </a:spcAft>
              <a:buClr>
                <a:srgbClr val="38512F"/>
              </a:buClr>
              <a:buSzPts val="4400"/>
              <a:buFont typeface="Candara"/>
              <a:buNone/>
            </a:pPr>
            <a:r>
              <a:rPr b="1" lang="en-US" sz="4400">
                <a:solidFill>
                  <a:srgbClr val="38512F"/>
                </a:solidFill>
                <a:latin typeface="Candara"/>
                <a:ea typeface="Candara"/>
                <a:cs typeface="Candara"/>
                <a:sym typeface="Candara"/>
              </a:rPr>
              <a:t>Methodology: Data &amp; Architecture</a:t>
            </a:r>
            <a:endParaRPr b="1" sz="4400">
              <a:solidFill>
                <a:schemeClr val="dk1"/>
              </a:solidFill>
              <a:latin typeface="Candara"/>
              <a:ea typeface="Candara"/>
              <a:cs typeface="Candara"/>
              <a:sym typeface="Candara"/>
            </a:endParaRPr>
          </a:p>
        </p:txBody>
      </p:sp>
      <p:sp>
        <p:nvSpPr>
          <p:cNvPr id="178" name="Google Shape;178;p5"/>
          <p:cNvSpPr/>
          <p:nvPr/>
        </p:nvSpPr>
        <p:spPr>
          <a:xfrm>
            <a:off x="837724" y="1686639"/>
            <a:ext cx="12954952" cy="311229"/>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Our approach is meticulously built upon two fundamental pillars:</a:t>
            </a:r>
            <a:endParaRPr b="1" sz="1800">
              <a:solidFill>
                <a:schemeClr val="dk1"/>
              </a:solidFill>
              <a:latin typeface="Candara"/>
              <a:ea typeface="Candara"/>
              <a:cs typeface="Candara"/>
              <a:sym typeface="Candara"/>
            </a:endParaRPr>
          </a:p>
        </p:txBody>
      </p:sp>
      <p:sp>
        <p:nvSpPr>
          <p:cNvPr id="179" name="Google Shape;179;p5"/>
          <p:cNvSpPr/>
          <p:nvPr/>
        </p:nvSpPr>
        <p:spPr>
          <a:xfrm>
            <a:off x="837726" y="2191222"/>
            <a:ext cx="6507900" cy="441600"/>
          </a:xfrm>
          <a:prstGeom prst="rect">
            <a:avLst/>
          </a:prstGeom>
          <a:noFill/>
          <a:ln>
            <a:noFill/>
          </a:ln>
        </p:spPr>
        <p:txBody>
          <a:bodyPr anchorCtr="0" anchor="t" bIns="0" lIns="0" spcFirstLastPara="1" rIns="0" wrap="square" tIns="0">
            <a:noAutofit/>
          </a:bodyPr>
          <a:lstStyle/>
          <a:p>
            <a:pPr indent="0" lvl="0" marL="0" marR="0" rtl="0" algn="l">
              <a:lnSpc>
                <a:spcPct val="96428"/>
              </a:lnSpc>
              <a:spcBef>
                <a:spcPts val="0"/>
              </a:spcBef>
              <a:spcAft>
                <a:spcPts val="0"/>
              </a:spcAft>
              <a:buClr>
                <a:srgbClr val="38512F"/>
              </a:buClr>
              <a:buSzPts val="2800"/>
              <a:buFont typeface="Candara"/>
              <a:buNone/>
            </a:pPr>
            <a:r>
              <a:rPr b="1" lang="en-US" sz="2800">
                <a:solidFill>
                  <a:srgbClr val="38512F"/>
                </a:solidFill>
                <a:latin typeface="Candara"/>
                <a:ea typeface="Candara"/>
                <a:cs typeface="Candara"/>
                <a:sym typeface="Candara"/>
              </a:rPr>
              <a:t>1. The Data (The "Fuel")</a:t>
            </a:r>
            <a:endParaRPr b="1" sz="2800">
              <a:solidFill>
                <a:schemeClr val="dk1"/>
              </a:solidFill>
              <a:latin typeface="Candara"/>
              <a:ea typeface="Candara"/>
              <a:cs typeface="Candara"/>
              <a:sym typeface="Candara"/>
            </a:endParaRPr>
          </a:p>
        </p:txBody>
      </p:sp>
      <p:sp>
        <p:nvSpPr>
          <p:cNvPr id="180" name="Google Shape;180;p5"/>
          <p:cNvSpPr/>
          <p:nvPr/>
        </p:nvSpPr>
        <p:spPr>
          <a:xfrm>
            <a:off x="837724" y="2835473"/>
            <a:ext cx="12954952" cy="311229"/>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The model is trained on specialised, large-scale public datasets where images, questions, and answers are meticulously provided by medical experts.</a:t>
            </a:r>
            <a:endParaRPr b="1" sz="1800">
              <a:solidFill>
                <a:schemeClr val="dk1"/>
              </a:solidFill>
              <a:latin typeface="Candara"/>
              <a:ea typeface="Candara"/>
              <a:cs typeface="Candara"/>
              <a:sym typeface="Candara"/>
            </a:endParaRPr>
          </a:p>
        </p:txBody>
      </p:sp>
      <p:sp>
        <p:nvSpPr>
          <p:cNvPr id="181" name="Google Shape;181;p5"/>
          <p:cNvSpPr/>
          <p:nvPr/>
        </p:nvSpPr>
        <p:spPr>
          <a:xfrm>
            <a:off x="837724" y="3454360"/>
            <a:ext cx="12954952"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VQA-RAD: General radiology Q&amp;A covering diverse imaging modalities.</a:t>
            </a:r>
            <a:endParaRPr b="1" sz="1800">
              <a:solidFill>
                <a:schemeClr val="dk1"/>
              </a:solidFill>
              <a:latin typeface="Candara"/>
              <a:ea typeface="Candara"/>
              <a:cs typeface="Candara"/>
              <a:sym typeface="Candara"/>
            </a:endParaRPr>
          </a:p>
        </p:txBody>
      </p:sp>
      <p:sp>
        <p:nvSpPr>
          <p:cNvPr id="182" name="Google Shape;182;p5"/>
          <p:cNvSpPr/>
          <p:nvPr/>
        </p:nvSpPr>
        <p:spPr>
          <a:xfrm>
            <a:off x="837724" y="3833574"/>
            <a:ext cx="12954952"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VinDr-CXR-VQA: A large-scale dataset focusing specifically on chest X-ray Q&amp;A.</a:t>
            </a:r>
            <a:endParaRPr b="1" sz="1800">
              <a:solidFill>
                <a:schemeClr val="dk1"/>
              </a:solidFill>
              <a:latin typeface="Candara"/>
              <a:ea typeface="Candara"/>
              <a:cs typeface="Candara"/>
              <a:sym typeface="Candara"/>
            </a:endParaRPr>
          </a:p>
        </p:txBody>
      </p:sp>
      <p:sp>
        <p:nvSpPr>
          <p:cNvPr id="183" name="Google Shape;183;p5"/>
          <p:cNvSpPr/>
          <p:nvPr/>
        </p:nvSpPr>
        <p:spPr>
          <a:xfrm>
            <a:off x="837724" y="4212788"/>
            <a:ext cx="12954952"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Med-MIM: A recent and expansive multi-image, multi-domain dataset for comprehensive training.</a:t>
            </a:r>
            <a:endParaRPr b="1" sz="1800">
              <a:solidFill>
                <a:schemeClr val="dk1"/>
              </a:solidFill>
              <a:latin typeface="Candara"/>
              <a:ea typeface="Candara"/>
              <a:cs typeface="Candara"/>
              <a:sym typeface="Candara"/>
            </a:endParaRPr>
          </a:p>
        </p:txBody>
      </p:sp>
      <p:sp>
        <p:nvSpPr>
          <p:cNvPr id="184" name="Google Shape;184;p5"/>
          <p:cNvSpPr/>
          <p:nvPr/>
        </p:nvSpPr>
        <p:spPr>
          <a:xfrm>
            <a:off x="837726" y="4815725"/>
            <a:ext cx="6229800" cy="343200"/>
          </a:xfrm>
          <a:prstGeom prst="rect">
            <a:avLst/>
          </a:prstGeom>
          <a:noFill/>
          <a:ln>
            <a:noFill/>
          </a:ln>
        </p:spPr>
        <p:txBody>
          <a:bodyPr anchorCtr="0" anchor="t" bIns="0" lIns="0" spcFirstLastPara="1" rIns="0" wrap="square" tIns="0">
            <a:noAutofit/>
          </a:bodyPr>
          <a:lstStyle/>
          <a:p>
            <a:pPr indent="0" lvl="0" marL="0" marR="0" rtl="0" algn="l">
              <a:lnSpc>
                <a:spcPct val="96428"/>
              </a:lnSpc>
              <a:spcBef>
                <a:spcPts val="0"/>
              </a:spcBef>
              <a:spcAft>
                <a:spcPts val="0"/>
              </a:spcAft>
              <a:buClr>
                <a:srgbClr val="38512F"/>
              </a:buClr>
              <a:buSzPts val="2800"/>
              <a:buFont typeface="Candara"/>
              <a:buNone/>
            </a:pPr>
            <a:r>
              <a:rPr b="1" lang="en-US" sz="2800">
                <a:solidFill>
                  <a:srgbClr val="38512F"/>
                </a:solidFill>
                <a:latin typeface="Candara"/>
                <a:ea typeface="Candara"/>
                <a:cs typeface="Candara"/>
                <a:sym typeface="Candara"/>
              </a:rPr>
              <a:t>2. The Model (The "Engine")</a:t>
            </a:r>
            <a:endParaRPr b="1" sz="2800">
              <a:solidFill>
                <a:schemeClr val="dk1"/>
              </a:solidFill>
              <a:latin typeface="Candara"/>
              <a:ea typeface="Candara"/>
              <a:cs typeface="Candara"/>
              <a:sym typeface="Candara"/>
            </a:endParaRPr>
          </a:p>
        </p:txBody>
      </p:sp>
      <p:sp>
        <p:nvSpPr>
          <p:cNvPr id="185" name="Google Shape;185;p5"/>
          <p:cNvSpPr/>
          <p:nvPr/>
        </p:nvSpPr>
        <p:spPr>
          <a:xfrm>
            <a:off x="837724" y="5450562"/>
            <a:ext cx="12954952" cy="622459"/>
          </a:xfrm>
          <a:prstGeom prst="rect">
            <a:avLst/>
          </a:prstGeom>
          <a:noFill/>
          <a:ln>
            <a:noFill/>
          </a:ln>
        </p:spPr>
        <p:txBody>
          <a:bodyPr anchorCtr="0" anchor="t" bIns="0" lIns="0" spcFirstLastPara="1" rIns="0" wrap="square" tIns="0">
            <a:noAutofit/>
          </a:bodyPr>
          <a:lstStyle/>
          <a:p>
            <a:pPr indent="0" lvl="0" marL="0" marR="0" rtl="0" algn="l">
              <a:lnSpc>
                <a:spcPct val="136111"/>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We employ a </a:t>
            </a:r>
            <a:r>
              <a:rPr b="1" lang="en-US" sz="1800">
                <a:solidFill>
                  <a:srgbClr val="38512F"/>
                </a:solidFill>
                <a:latin typeface="Candara"/>
                <a:ea typeface="Candara"/>
                <a:cs typeface="Candara"/>
                <a:sym typeface="Candara"/>
              </a:rPr>
              <a:t>Multimodal Fusion Architecture</a:t>
            </a:r>
            <a:r>
              <a:rPr b="1" lang="en-US" sz="1800">
                <a:solidFill>
                  <a:srgbClr val="3A3630"/>
                </a:solidFill>
                <a:latin typeface="Candara"/>
                <a:ea typeface="Candara"/>
                <a:cs typeface="Candara"/>
                <a:sym typeface="Candara"/>
              </a:rPr>
              <a:t>. This means the model utilises two distinct "branches" to process each input separately, before intelligently "fusing" them to derive the correct answer.</a:t>
            </a:r>
            <a:endParaRPr b="1" sz="1800">
              <a:solidFill>
                <a:schemeClr val="dk1"/>
              </a:solidFill>
              <a:latin typeface="Candara"/>
              <a:ea typeface="Candara"/>
              <a:cs typeface="Candara"/>
              <a:sym typeface="Candara"/>
            </a:endParaRPr>
          </a:p>
        </p:txBody>
      </p:sp>
      <p:sp>
        <p:nvSpPr>
          <p:cNvPr id="186" name="Google Shape;186;p5"/>
          <p:cNvSpPr/>
          <p:nvPr/>
        </p:nvSpPr>
        <p:spPr>
          <a:xfrm>
            <a:off x="837724" y="6291739"/>
            <a:ext cx="12954952"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Dedicated visual processing branch.</a:t>
            </a:r>
            <a:endParaRPr b="1" sz="1800">
              <a:solidFill>
                <a:schemeClr val="dk1"/>
              </a:solidFill>
              <a:latin typeface="Candara"/>
              <a:ea typeface="Candara"/>
              <a:cs typeface="Candara"/>
              <a:sym typeface="Candara"/>
            </a:endParaRPr>
          </a:p>
        </p:txBody>
      </p:sp>
      <p:sp>
        <p:nvSpPr>
          <p:cNvPr id="187" name="Google Shape;187;p5"/>
          <p:cNvSpPr/>
          <p:nvPr/>
        </p:nvSpPr>
        <p:spPr>
          <a:xfrm>
            <a:off x="837724" y="6670953"/>
            <a:ext cx="12954952"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Dedicated text comprehension branch.</a:t>
            </a:r>
            <a:endParaRPr b="1" sz="1800">
              <a:solidFill>
                <a:schemeClr val="dk1"/>
              </a:solidFill>
              <a:latin typeface="Candara"/>
              <a:ea typeface="Candara"/>
              <a:cs typeface="Candara"/>
              <a:sym typeface="Candara"/>
            </a:endParaRPr>
          </a:p>
        </p:txBody>
      </p:sp>
      <p:sp>
        <p:nvSpPr>
          <p:cNvPr id="188" name="Google Shape;188;p5"/>
          <p:cNvSpPr/>
          <p:nvPr/>
        </p:nvSpPr>
        <p:spPr>
          <a:xfrm>
            <a:off x="837724" y="7050167"/>
            <a:ext cx="12954952" cy="311229"/>
          </a:xfrm>
          <a:prstGeom prst="rect">
            <a:avLst/>
          </a:prstGeom>
          <a:noFill/>
          <a:ln>
            <a:noFill/>
          </a:ln>
        </p:spPr>
        <p:txBody>
          <a:bodyPr anchorCtr="0" anchor="t" bIns="0" lIns="0" spcFirstLastPara="1" rIns="0" wrap="square" tIns="0">
            <a:noAutofit/>
          </a:bodyPr>
          <a:lstStyle/>
          <a:p>
            <a:pPr indent="-342900" lvl="0" marL="342900" marR="0" rtl="0" algn="l">
              <a:lnSpc>
                <a:spcPct val="136111"/>
              </a:lnSpc>
              <a:spcBef>
                <a:spcPts val="0"/>
              </a:spcBef>
              <a:spcAft>
                <a:spcPts val="0"/>
              </a:spcAft>
              <a:buClr>
                <a:srgbClr val="3A3630"/>
              </a:buClr>
              <a:buSzPts val="1800"/>
              <a:buFont typeface="Candara"/>
              <a:buChar char="•"/>
            </a:pPr>
            <a:r>
              <a:rPr b="1" lang="en-US" sz="1800">
                <a:solidFill>
                  <a:srgbClr val="3A3630"/>
                </a:solidFill>
                <a:latin typeface="Candara"/>
                <a:ea typeface="Candara"/>
                <a:cs typeface="Candara"/>
                <a:sym typeface="Candara"/>
              </a:rPr>
              <a:t>Sophisticated fusion mechanism.</a:t>
            </a:r>
            <a:endParaRPr b="1" sz="1800">
              <a:solidFill>
                <a:schemeClr val="dk1"/>
              </a:solidFill>
              <a:latin typeface="Candara"/>
              <a:ea typeface="Candara"/>
              <a:cs typeface="Candara"/>
              <a:sym typeface="Canda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preencoded.png" id="194" name="Google Shape;194;p6"/>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195" name="Google Shape;195;p6"/>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837724" y="1631752"/>
            <a:ext cx="9452610" cy="615910"/>
          </a:xfrm>
          <a:prstGeom prst="rect">
            <a:avLst/>
          </a:prstGeom>
          <a:noFill/>
          <a:ln>
            <a:noFill/>
          </a:ln>
        </p:spPr>
        <p:txBody>
          <a:bodyPr anchorCtr="0" anchor="t" bIns="0" lIns="0" spcFirstLastPara="1" rIns="0" wrap="square" tIns="0">
            <a:noAutofit/>
          </a:bodyPr>
          <a:lstStyle/>
          <a:p>
            <a:pPr indent="0" lvl="0" marL="0" marR="0" rtl="0" algn="l">
              <a:lnSpc>
                <a:spcPct val="121250"/>
              </a:lnSpc>
              <a:spcBef>
                <a:spcPts val="0"/>
              </a:spcBef>
              <a:spcAft>
                <a:spcPts val="0"/>
              </a:spcAft>
              <a:buClr>
                <a:srgbClr val="38512F"/>
              </a:buClr>
              <a:buSzPts val="4000"/>
              <a:buFont typeface="Candara"/>
              <a:buNone/>
            </a:pPr>
            <a:r>
              <a:rPr b="1" lang="en-US" sz="4000">
                <a:solidFill>
                  <a:srgbClr val="38512F"/>
                </a:solidFill>
                <a:latin typeface="Candara"/>
                <a:ea typeface="Candara"/>
                <a:cs typeface="Candara"/>
                <a:sym typeface="Candara"/>
              </a:rPr>
              <a:t>Implementation: A Three-Module System</a:t>
            </a:r>
            <a:endParaRPr b="1" sz="4000">
              <a:solidFill>
                <a:schemeClr val="dk1"/>
              </a:solidFill>
              <a:latin typeface="Candara"/>
              <a:ea typeface="Candara"/>
              <a:cs typeface="Candara"/>
              <a:sym typeface="Candara"/>
            </a:endParaRPr>
          </a:p>
        </p:txBody>
      </p:sp>
      <p:pic>
        <p:nvPicPr>
          <p:cNvPr descr="preencoded.png" id="197" name="Google Shape;197;p6"/>
          <p:cNvPicPr preferRelativeResize="0"/>
          <p:nvPr/>
        </p:nvPicPr>
        <p:blipFill rotWithShape="1">
          <a:blip r:embed="rId4">
            <a:alphaModFix/>
          </a:blip>
          <a:srcRect b="0" l="0" r="0" t="0"/>
          <a:stretch/>
        </p:blipFill>
        <p:spPr>
          <a:xfrm>
            <a:off x="837724" y="2561749"/>
            <a:ext cx="1047274" cy="1256705"/>
          </a:xfrm>
          <a:prstGeom prst="rect">
            <a:avLst/>
          </a:prstGeom>
          <a:noFill/>
          <a:ln>
            <a:noFill/>
          </a:ln>
        </p:spPr>
      </p:pic>
      <p:sp>
        <p:nvSpPr>
          <p:cNvPr id="198" name="Google Shape;198;p6"/>
          <p:cNvSpPr/>
          <p:nvPr/>
        </p:nvSpPr>
        <p:spPr>
          <a:xfrm>
            <a:off x="2094428" y="2771180"/>
            <a:ext cx="2464118" cy="30801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The Vision Encoder</a:t>
            </a:r>
            <a:endParaRPr b="1" sz="2000">
              <a:solidFill>
                <a:schemeClr val="dk1"/>
              </a:solidFill>
              <a:latin typeface="Candara"/>
              <a:ea typeface="Candara"/>
              <a:cs typeface="Candara"/>
              <a:sym typeface="Candara"/>
            </a:endParaRPr>
          </a:p>
        </p:txBody>
      </p:sp>
      <p:sp>
        <p:nvSpPr>
          <p:cNvPr id="199" name="Google Shape;199;p6"/>
          <p:cNvSpPr/>
          <p:nvPr/>
        </p:nvSpPr>
        <p:spPr>
          <a:xfrm>
            <a:off x="2094428" y="3204805"/>
            <a:ext cx="11698248" cy="335042"/>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A pre-trained Vision Transformer (ViT) scans the X-ray, converting it into numerical features representing its visual content.</a:t>
            </a:r>
            <a:endParaRPr b="1" sz="1800">
              <a:solidFill>
                <a:schemeClr val="dk1"/>
              </a:solidFill>
              <a:latin typeface="Candara"/>
              <a:ea typeface="Candara"/>
              <a:cs typeface="Candara"/>
              <a:sym typeface="Candara"/>
            </a:endParaRPr>
          </a:p>
        </p:txBody>
      </p:sp>
      <p:pic>
        <p:nvPicPr>
          <p:cNvPr descr="preencoded.png" id="200" name="Google Shape;200;p6"/>
          <p:cNvPicPr preferRelativeResize="0"/>
          <p:nvPr/>
        </p:nvPicPr>
        <p:blipFill rotWithShape="1">
          <a:blip r:embed="rId5">
            <a:alphaModFix/>
          </a:blip>
          <a:srcRect b="0" l="0" r="0" t="0"/>
          <a:stretch/>
        </p:blipFill>
        <p:spPr>
          <a:xfrm>
            <a:off x="837724" y="3818453"/>
            <a:ext cx="1047274" cy="1256705"/>
          </a:xfrm>
          <a:prstGeom prst="rect">
            <a:avLst/>
          </a:prstGeom>
          <a:noFill/>
          <a:ln>
            <a:noFill/>
          </a:ln>
        </p:spPr>
      </p:pic>
      <p:sp>
        <p:nvSpPr>
          <p:cNvPr id="201" name="Google Shape;201;p6"/>
          <p:cNvSpPr/>
          <p:nvPr/>
        </p:nvSpPr>
        <p:spPr>
          <a:xfrm>
            <a:off x="2094428" y="4027884"/>
            <a:ext cx="2464118" cy="30801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The Text Encoder</a:t>
            </a:r>
            <a:endParaRPr b="1" sz="2000">
              <a:solidFill>
                <a:schemeClr val="dk1"/>
              </a:solidFill>
              <a:latin typeface="Candara"/>
              <a:ea typeface="Candara"/>
              <a:cs typeface="Candara"/>
              <a:sym typeface="Candara"/>
            </a:endParaRPr>
          </a:p>
        </p:txBody>
      </p:sp>
      <p:sp>
        <p:nvSpPr>
          <p:cNvPr id="202" name="Google Shape;202;p6"/>
          <p:cNvSpPr/>
          <p:nvPr/>
        </p:nvSpPr>
        <p:spPr>
          <a:xfrm>
            <a:off x="2094428" y="4461510"/>
            <a:ext cx="11698248" cy="335042"/>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A pre-trained ClinicalBERT or BioBERT model reads the question, understanding its medical context and intent.</a:t>
            </a:r>
            <a:endParaRPr b="1" sz="1800">
              <a:solidFill>
                <a:schemeClr val="dk1"/>
              </a:solidFill>
              <a:latin typeface="Candara"/>
              <a:ea typeface="Candara"/>
              <a:cs typeface="Candara"/>
              <a:sym typeface="Candara"/>
            </a:endParaRPr>
          </a:p>
        </p:txBody>
      </p:sp>
      <p:pic>
        <p:nvPicPr>
          <p:cNvPr descr="preencoded.png" id="203" name="Google Shape;203;p6"/>
          <p:cNvPicPr preferRelativeResize="0"/>
          <p:nvPr/>
        </p:nvPicPr>
        <p:blipFill rotWithShape="1">
          <a:blip r:embed="rId6">
            <a:alphaModFix/>
          </a:blip>
          <a:srcRect b="0" l="0" r="0" t="0"/>
          <a:stretch/>
        </p:blipFill>
        <p:spPr>
          <a:xfrm>
            <a:off x="837724" y="5075158"/>
            <a:ext cx="1047274" cy="1522571"/>
          </a:xfrm>
          <a:prstGeom prst="rect">
            <a:avLst/>
          </a:prstGeom>
          <a:noFill/>
          <a:ln>
            <a:noFill/>
          </a:ln>
        </p:spPr>
      </p:pic>
      <p:sp>
        <p:nvSpPr>
          <p:cNvPr id="204" name="Google Shape;204;p6"/>
          <p:cNvSpPr/>
          <p:nvPr/>
        </p:nvSpPr>
        <p:spPr>
          <a:xfrm>
            <a:off x="2094428" y="5284589"/>
            <a:ext cx="3341370" cy="30801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The Fusion &amp; Answer Module</a:t>
            </a:r>
            <a:endParaRPr b="1" sz="2000">
              <a:solidFill>
                <a:schemeClr val="dk1"/>
              </a:solidFill>
              <a:latin typeface="Candara"/>
              <a:ea typeface="Candara"/>
              <a:cs typeface="Candara"/>
              <a:sym typeface="Candara"/>
            </a:endParaRPr>
          </a:p>
        </p:txBody>
      </p:sp>
      <p:sp>
        <p:nvSpPr>
          <p:cNvPr id="205" name="Google Shape;205;p6"/>
          <p:cNvSpPr/>
          <p:nvPr/>
        </p:nvSpPr>
        <p:spPr>
          <a:xfrm>
            <a:off x="2094428" y="5718215"/>
            <a:ext cx="11698248" cy="670084"/>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3A3630"/>
              </a:buClr>
              <a:buSzPts val="1800"/>
              <a:buFont typeface="Candara"/>
              <a:buNone/>
            </a:pPr>
            <a:r>
              <a:rPr b="1" lang="en-US" sz="1800">
                <a:solidFill>
                  <a:srgbClr val="3A3630"/>
                </a:solidFill>
                <a:latin typeface="Candara"/>
                <a:ea typeface="Candara"/>
                <a:cs typeface="Candara"/>
                <a:sym typeface="Candara"/>
              </a:rPr>
              <a:t>A Co-Attention Mechanism combines vectors, focusing on relevant image parts. A Classifier Head then selects the most likely answer from thousands of possibilities.</a:t>
            </a:r>
            <a:endParaRPr b="1" sz="1800">
              <a:solidFill>
                <a:schemeClr val="dk1"/>
              </a:solidFill>
              <a:latin typeface="Candara"/>
              <a:ea typeface="Candara"/>
              <a:cs typeface="Candara"/>
              <a:sym typeface="Canda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descr="preencoded.png" id="211" name="Google Shape;211;p7"/>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212" name="Google Shape;212;p7"/>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837724" y="1152644"/>
            <a:ext cx="6122789" cy="704017"/>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38512F"/>
              </a:buClr>
              <a:buSzPts val="4800"/>
              <a:buFont typeface="Candara"/>
              <a:buNone/>
            </a:pPr>
            <a:r>
              <a:rPr b="1" lang="en-US" sz="4800">
                <a:solidFill>
                  <a:srgbClr val="38512F"/>
                </a:solidFill>
                <a:latin typeface="Candara"/>
                <a:ea typeface="Candara"/>
                <a:cs typeface="Candara"/>
                <a:sym typeface="Candara"/>
              </a:rPr>
              <a:t>Outcomes &amp; Evaluation</a:t>
            </a:r>
            <a:endParaRPr b="1" sz="4800">
              <a:solidFill>
                <a:schemeClr val="dk1"/>
              </a:solidFill>
              <a:latin typeface="Candara"/>
              <a:ea typeface="Candara"/>
              <a:cs typeface="Candara"/>
              <a:sym typeface="Candara"/>
            </a:endParaRPr>
          </a:p>
        </p:txBody>
      </p:sp>
      <p:sp>
        <p:nvSpPr>
          <p:cNvPr id="214" name="Google Shape;214;p7"/>
          <p:cNvSpPr/>
          <p:nvPr/>
        </p:nvSpPr>
        <p:spPr>
          <a:xfrm>
            <a:off x="837724" y="2215634"/>
            <a:ext cx="12954952" cy="38302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Measuring the success of Med-VQA goes beyond simple accuracy. We employ a multi-faceted evaluation approach:</a:t>
            </a:r>
            <a:endParaRPr b="1" sz="2000">
              <a:solidFill>
                <a:schemeClr val="dk1"/>
              </a:solidFill>
              <a:latin typeface="Candara"/>
              <a:ea typeface="Candara"/>
              <a:cs typeface="Candara"/>
              <a:sym typeface="Candara"/>
            </a:endParaRPr>
          </a:p>
        </p:txBody>
      </p:sp>
      <p:sp>
        <p:nvSpPr>
          <p:cNvPr id="215" name="Google Shape;215;p7"/>
          <p:cNvSpPr/>
          <p:nvPr/>
        </p:nvSpPr>
        <p:spPr>
          <a:xfrm>
            <a:off x="837724" y="2867858"/>
            <a:ext cx="4158734" cy="4208978"/>
          </a:xfrm>
          <a:prstGeom prst="roundRect">
            <a:avLst>
              <a:gd fmla="val 3518"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807244" y="2867858"/>
            <a:ext cx="121920" cy="4208978"/>
          </a:xfrm>
          <a:prstGeom prst="roundRect">
            <a:avLst>
              <a:gd fmla="val 29451"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1198959" y="3137654"/>
            <a:ext cx="3379470" cy="422315"/>
          </a:xfrm>
          <a:prstGeom prst="rect">
            <a:avLst/>
          </a:prstGeom>
          <a:noFill/>
          <a:ln>
            <a:noFill/>
          </a:ln>
        </p:spPr>
        <p:txBody>
          <a:bodyPr anchorCtr="0" anchor="t" bIns="0" lIns="0" spcFirstLastPara="1" rIns="0" wrap="square" tIns="0">
            <a:noAutofit/>
          </a:bodyPr>
          <a:lstStyle/>
          <a:p>
            <a:pPr indent="0" lvl="0" marL="0" marR="0" rtl="0" algn="l">
              <a:lnSpc>
                <a:spcPct val="117857"/>
              </a:lnSpc>
              <a:spcBef>
                <a:spcPts val="0"/>
              </a:spcBef>
              <a:spcAft>
                <a:spcPts val="0"/>
              </a:spcAft>
              <a:buClr>
                <a:srgbClr val="3A3630"/>
              </a:buClr>
              <a:buSzPts val="2800"/>
              <a:buFont typeface="Candara"/>
              <a:buNone/>
            </a:pPr>
            <a:r>
              <a:rPr b="1" lang="en-US" sz="2800">
                <a:solidFill>
                  <a:srgbClr val="3A3630"/>
                </a:solidFill>
                <a:latin typeface="Candara"/>
                <a:ea typeface="Candara"/>
                <a:cs typeface="Candara"/>
                <a:sym typeface="Candara"/>
              </a:rPr>
              <a:t>VQA Accuracy</a:t>
            </a:r>
            <a:endParaRPr b="1" sz="2800">
              <a:solidFill>
                <a:schemeClr val="dk1"/>
              </a:solidFill>
              <a:latin typeface="Candara"/>
              <a:ea typeface="Candara"/>
              <a:cs typeface="Candara"/>
              <a:sym typeface="Candara"/>
            </a:endParaRPr>
          </a:p>
        </p:txBody>
      </p:sp>
      <p:sp>
        <p:nvSpPr>
          <p:cNvPr id="218" name="Google Shape;218;p7"/>
          <p:cNvSpPr/>
          <p:nvPr/>
        </p:nvSpPr>
        <p:spPr>
          <a:xfrm>
            <a:off x="1198959" y="3703558"/>
            <a:ext cx="3527703" cy="19151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A specialised metric that offers flexibility with wording, recognising semantic equivalents (e.g., "left lung" is understood as "the lung on the left").</a:t>
            </a:r>
            <a:endParaRPr b="1" sz="2000">
              <a:solidFill>
                <a:schemeClr val="dk1"/>
              </a:solidFill>
              <a:latin typeface="Candara"/>
              <a:ea typeface="Candara"/>
              <a:cs typeface="Candara"/>
              <a:sym typeface="Candara"/>
            </a:endParaRPr>
          </a:p>
        </p:txBody>
      </p:sp>
      <p:sp>
        <p:nvSpPr>
          <p:cNvPr id="219" name="Google Shape;219;p7"/>
          <p:cNvSpPr/>
          <p:nvPr/>
        </p:nvSpPr>
        <p:spPr>
          <a:xfrm>
            <a:off x="5235773" y="2867858"/>
            <a:ext cx="4158734" cy="4208978"/>
          </a:xfrm>
          <a:prstGeom prst="roundRect">
            <a:avLst>
              <a:gd fmla="val 3518"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5205293" y="2867858"/>
            <a:ext cx="121920" cy="4208978"/>
          </a:xfrm>
          <a:prstGeom prst="roundRect">
            <a:avLst>
              <a:gd fmla="val 29451"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5597009" y="3137654"/>
            <a:ext cx="3379470" cy="422315"/>
          </a:xfrm>
          <a:prstGeom prst="rect">
            <a:avLst/>
          </a:prstGeom>
          <a:noFill/>
          <a:ln>
            <a:noFill/>
          </a:ln>
        </p:spPr>
        <p:txBody>
          <a:bodyPr anchorCtr="0" anchor="t" bIns="0" lIns="0" spcFirstLastPara="1" rIns="0" wrap="square" tIns="0">
            <a:noAutofit/>
          </a:bodyPr>
          <a:lstStyle/>
          <a:p>
            <a:pPr indent="0" lvl="0" marL="0" marR="0" rtl="0" algn="l">
              <a:lnSpc>
                <a:spcPct val="117857"/>
              </a:lnSpc>
              <a:spcBef>
                <a:spcPts val="0"/>
              </a:spcBef>
              <a:spcAft>
                <a:spcPts val="0"/>
              </a:spcAft>
              <a:buClr>
                <a:srgbClr val="3A3630"/>
              </a:buClr>
              <a:buSzPts val="2800"/>
              <a:buFont typeface="Candara"/>
              <a:buNone/>
            </a:pPr>
            <a:r>
              <a:rPr b="1" lang="en-US" sz="2800">
                <a:solidFill>
                  <a:srgbClr val="3A3630"/>
                </a:solidFill>
                <a:latin typeface="Candara"/>
                <a:ea typeface="Candara"/>
                <a:cs typeface="Candara"/>
                <a:sym typeface="Candara"/>
              </a:rPr>
              <a:t>Automated Metrics</a:t>
            </a:r>
            <a:endParaRPr b="1" sz="2800">
              <a:solidFill>
                <a:schemeClr val="dk1"/>
              </a:solidFill>
              <a:latin typeface="Candara"/>
              <a:ea typeface="Candara"/>
              <a:cs typeface="Candara"/>
              <a:sym typeface="Candara"/>
            </a:endParaRPr>
          </a:p>
        </p:txBody>
      </p:sp>
      <p:sp>
        <p:nvSpPr>
          <p:cNvPr id="222" name="Google Shape;222;p7"/>
          <p:cNvSpPr/>
          <p:nvPr/>
        </p:nvSpPr>
        <p:spPr>
          <a:xfrm>
            <a:off x="5597009" y="3703558"/>
            <a:ext cx="3527703" cy="19151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We utilise metrics like BLEU and ROUGE, borrowed from natural language translation, to assess the quality and fluency of the generated answers.</a:t>
            </a:r>
            <a:endParaRPr b="1" sz="2000">
              <a:solidFill>
                <a:schemeClr val="dk1"/>
              </a:solidFill>
              <a:latin typeface="Candara"/>
              <a:ea typeface="Candara"/>
              <a:cs typeface="Candara"/>
              <a:sym typeface="Candara"/>
            </a:endParaRPr>
          </a:p>
        </p:txBody>
      </p:sp>
      <p:sp>
        <p:nvSpPr>
          <p:cNvPr id="223" name="Google Shape;223;p7"/>
          <p:cNvSpPr/>
          <p:nvPr/>
        </p:nvSpPr>
        <p:spPr>
          <a:xfrm>
            <a:off x="9633823" y="2867858"/>
            <a:ext cx="4158853" cy="4208978"/>
          </a:xfrm>
          <a:prstGeom prst="roundRect">
            <a:avLst>
              <a:gd fmla="val 3518"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9603343" y="2867858"/>
            <a:ext cx="121920" cy="4208978"/>
          </a:xfrm>
          <a:prstGeom prst="roundRect">
            <a:avLst>
              <a:gd fmla="val 29451"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9995059" y="3137654"/>
            <a:ext cx="3527822" cy="844629"/>
          </a:xfrm>
          <a:prstGeom prst="rect">
            <a:avLst/>
          </a:prstGeom>
          <a:noFill/>
          <a:ln>
            <a:noFill/>
          </a:ln>
        </p:spPr>
        <p:txBody>
          <a:bodyPr anchorCtr="0" anchor="t" bIns="0" lIns="0" spcFirstLastPara="1" rIns="0" wrap="square" tIns="0">
            <a:noAutofit/>
          </a:bodyPr>
          <a:lstStyle/>
          <a:p>
            <a:pPr indent="0" lvl="0" marL="0" marR="0" rtl="0" algn="l">
              <a:lnSpc>
                <a:spcPct val="117857"/>
              </a:lnSpc>
              <a:spcBef>
                <a:spcPts val="0"/>
              </a:spcBef>
              <a:spcAft>
                <a:spcPts val="0"/>
              </a:spcAft>
              <a:buClr>
                <a:srgbClr val="3A3630"/>
              </a:buClr>
              <a:buSzPts val="2800"/>
              <a:buFont typeface="Candara"/>
              <a:buNone/>
            </a:pPr>
            <a:r>
              <a:rPr b="1" lang="en-US" sz="2800">
                <a:solidFill>
                  <a:srgbClr val="3A3630"/>
                </a:solidFill>
                <a:latin typeface="Candara"/>
                <a:ea typeface="Candara"/>
                <a:cs typeface="Candara"/>
                <a:sym typeface="Candara"/>
              </a:rPr>
              <a:t>Explainable AI (XAI) Evaluation</a:t>
            </a:r>
            <a:endParaRPr b="1" sz="2800">
              <a:solidFill>
                <a:schemeClr val="dk1"/>
              </a:solidFill>
              <a:latin typeface="Candara"/>
              <a:ea typeface="Candara"/>
              <a:cs typeface="Candara"/>
              <a:sym typeface="Candara"/>
            </a:endParaRPr>
          </a:p>
        </p:txBody>
      </p:sp>
      <p:sp>
        <p:nvSpPr>
          <p:cNvPr id="226" name="Google Shape;226;p7"/>
          <p:cNvSpPr/>
          <p:nvPr/>
        </p:nvSpPr>
        <p:spPr>
          <a:xfrm>
            <a:off x="9995059" y="4125873"/>
            <a:ext cx="3527822" cy="268116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A key 2025 trend, we not only demand correct answers but also require justification. We evaluate the model's justifications (its "chain of thought") and visual grounding (heatmaps) for medical relevance and coherence.</a:t>
            </a:r>
            <a:endParaRPr b="1" sz="2000">
              <a:solidFill>
                <a:schemeClr val="dk1"/>
              </a:solidFill>
              <a:latin typeface="Candara"/>
              <a:ea typeface="Candara"/>
              <a:cs typeface="Candara"/>
              <a:sym typeface="Canda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preencoded.png" id="232" name="Google Shape;232;p8"/>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233" name="Google Shape;233;p8"/>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832366" y="818793"/>
            <a:ext cx="6886456" cy="699492"/>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38512F"/>
              </a:buClr>
              <a:buSzPts val="4800"/>
              <a:buFont typeface="Candara"/>
              <a:buNone/>
            </a:pPr>
            <a:r>
              <a:rPr b="1" lang="en-US" sz="4800">
                <a:solidFill>
                  <a:srgbClr val="38512F"/>
                </a:solidFill>
                <a:latin typeface="Candara"/>
                <a:ea typeface="Candara"/>
                <a:cs typeface="Candara"/>
                <a:sym typeface="Candara"/>
              </a:rPr>
              <a:t>Conclusion &amp; Future Work</a:t>
            </a:r>
            <a:endParaRPr b="1" sz="4800">
              <a:solidFill>
                <a:schemeClr val="dk1"/>
              </a:solidFill>
              <a:latin typeface="Candara"/>
              <a:ea typeface="Candara"/>
              <a:cs typeface="Candara"/>
              <a:sym typeface="Candara"/>
            </a:endParaRPr>
          </a:p>
        </p:txBody>
      </p:sp>
      <p:sp>
        <p:nvSpPr>
          <p:cNvPr id="235" name="Google Shape;235;p8"/>
          <p:cNvSpPr/>
          <p:nvPr/>
        </p:nvSpPr>
        <p:spPr>
          <a:xfrm>
            <a:off x="832366" y="1613416"/>
            <a:ext cx="3357682" cy="419695"/>
          </a:xfrm>
          <a:prstGeom prst="rect">
            <a:avLst/>
          </a:prstGeom>
          <a:noFill/>
          <a:ln>
            <a:noFill/>
          </a:ln>
        </p:spPr>
        <p:txBody>
          <a:bodyPr anchorCtr="0" anchor="t" bIns="0" lIns="0" spcFirstLastPara="1" rIns="0" wrap="square" tIns="0">
            <a:noAutofit/>
          </a:bodyPr>
          <a:lstStyle/>
          <a:p>
            <a:pPr indent="0" lvl="0" marL="0" marR="0" rtl="0" algn="l">
              <a:lnSpc>
                <a:spcPct val="117857"/>
              </a:lnSpc>
              <a:spcBef>
                <a:spcPts val="0"/>
              </a:spcBef>
              <a:spcAft>
                <a:spcPts val="0"/>
              </a:spcAft>
              <a:buClr>
                <a:srgbClr val="38512F"/>
              </a:buClr>
              <a:buSzPts val="2800"/>
              <a:buFont typeface="Candara"/>
              <a:buNone/>
            </a:pPr>
            <a:r>
              <a:rPr b="1" lang="en-US" sz="2800">
                <a:solidFill>
                  <a:srgbClr val="38512F"/>
                </a:solidFill>
                <a:latin typeface="Candara"/>
                <a:ea typeface="Candara"/>
                <a:cs typeface="Candara"/>
                <a:sym typeface="Candara"/>
              </a:rPr>
              <a:t>Conclusion</a:t>
            </a:r>
            <a:endParaRPr b="1" sz="2800">
              <a:solidFill>
                <a:schemeClr val="dk1"/>
              </a:solidFill>
              <a:latin typeface="Candara"/>
              <a:ea typeface="Candara"/>
              <a:cs typeface="Candara"/>
              <a:sym typeface="Candara"/>
            </a:endParaRPr>
          </a:p>
        </p:txBody>
      </p:sp>
      <p:sp>
        <p:nvSpPr>
          <p:cNvPr id="236" name="Google Shape;236;p8"/>
          <p:cNvSpPr/>
          <p:nvPr/>
        </p:nvSpPr>
        <p:spPr>
          <a:xfrm>
            <a:off x="832366" y="2389823"/>
            <a:ext cx="12965668" cy="1141571"/>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We have designed a comprehensive blueprint for a Med-VQA system. This "co-pilot" has the profound potential to enhance patient safety in radiology and create a more sustainable environment for doctors. Moreover, it stands to revolutionise medical education by offering an interactive, on-demand learning tool for aspiring medical professionals.</a:t>
            </a:r>
            <a:endParaRPr b="1" sz="2000">
              <a:solidFill>
                <a:schemeClr val="dk1"/>
              </a:solidFill>
              <a:latin typeface="Candara"/>
              <a:ea typeface="Candara"/>
              <a:cs typeface="Candara"/>
              <a:sym typeface="Candara"/>
            </a:endParaRPr>
          </a:p>
        </p:txBody>
      </p:sp>
      <p:sp>
        <p:nvSpPr>
          <p:cNvPr id="237" name="Google Shape;237;p8"/>
          <p:cNvSpPr/>
          <p:nvPr/>
        </p:nvSpPr>
        <p:spPr>
          <a:xfrm>
            <a:off x="832366" y="3888105"/>
            <a:ext cx="3357682" cy="419695"/>
          </a:xfrm>
          <a:prstGeom prst="rect">
            <a:avLst/>
          </a:prstGeom>
          <a:noFill/>
          <a:ln>
            <a:noFill/>
          </a:ln>
        </p:spPr>
        <p:txBody>
          <a:bodyPr anchorCtr="0" anchor="t" bIns="0" lIns="0" spcFirstLastPara="1" rIns="0" wrap="square" tIns="0">
            <a:noAutofit/>
          </a:bodyPr>
          <a:lstStyle/>
          <a:p>
            <a:pPr indent="0" lvl="0" marL="0" marR="0" rtl="0" algn="l">
              <a:lnSpc>
                <a:spcPct val="117857"/>
              </a:lnSpc>
              <a:spcBef>
                <a:spcPts val="0"/>
              </a:spcBef>
              <a:spcAft>
                <a:spcPts val="0"/>
              </a:spcAft>
              <a:buClr>
                <a:srgbClr val="38512F"/>
              </a:buClr>
              <a:buSzPts val="2800"/>
              <a:buFont typeface="Candara"/>
              <a:buNone/>
            </a:pPr>
            <a:r>
              <a:rPr b="1" lang="en-US" sz="2800">
                <a:solidFill>
                  <a:srgbClr val="38512F"/>
                </a:solidFill>
                <a:latin typeface="Candara"/>
                <a:ea typeface="Candara"/>
                <a:cs typeface="Candara"/>
                <a:sym typeface="Candara"/>
              </a:rPr>
              <a:t>Future Work</a:t>
            </a:r>
            <a:endParaRPr b="1" sz="2800">
              <a:solidFill>
                <a:schemeClr val="dk1"/>
              </a:solidFill>
              <a:latin typeface="Candara"/>
              <a:ea typeface="Candara"/>
              <a:cs typeface="Candara"/>
              <a:sym typeface="Candara"/>
            </a:endParaRPr>
          </a:p>
        </p:txBody>
      </p:sp>
      <p:sp>
        <p:nvSpPr>
          <p:cNvPr id="238" name="Google Shape;238;p8"/>
          <p:cNvSpPr/>
          <p:nvPr/>
        </p:nvSpPr>
        <p:spPr>
          <a:xfrm>
            <a:off x="832366" y="4664512"/>
            <a:ext cx="237768" cy="297299"/>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01</a:t>
            </a:r>
            <a:endParaRPr b="1" sz="2000">
              <a:solidFill>
                <a:schemeClr val="dk1"/>
              </a:solidFill>
              <a:latin typeface="Candara"/>
              <a:ea typeface="Candara"/>
              <a:cs typeface="Candara"/>
              <a:sym typeface="Candara"/>
            </a:endParaRPr>
          </a:p>
        </p:txBody>
      </p:sp>
      <p:sp>
        <p:nvSpPr>
          <p:cNvPr id="239" name="Google Shape;239;p8"/>
          <p:cNvSpPr/>
          <p:nvPr/>
        </p:nvSpPr>
        <p:spPr>
          <a:xfrm>
            <a:off x="832366" y="5038249"/>
            <a:ext cx="4163377" cy="30480"/>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832379" y="5218025"/>
            <a:ext cx="4077600" cy="3498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3A3630"/>
              </a:buClr>
              <a:buSzPts val="2400"/>
              <a:buFont typeface="Candara"/>
              <a:buNone/>
            </a:pPr>
            <a:r>
              <a:rPr b="1" lang="en-US" sz="2400">
                <a:solidFill>
                  <a:srgbClr val="3A3630"/>
                </a:solidFill>
                <a:latin typeface="Candara"/>
                <a:ea typeface="Candara"/>
                <a:cs typeface="Candara"/>
                <a:sym typeface="Candara"/>
              </a:rPr>
              <a:t>Improve Explainability</a:t>
            </a:r>
            <a:endParaRPr b="1" sz="2400">
              <a:solidFill>
                <a:schemeClr val="dk1"/>
              </a:solidFill>
              <a:latin typeface="Candara"/>
              <a:ea typeface="Candara"/>
              <a:cs typeface="Candara"/>
              <a:sym typeface="Candara"/>
            </a:endParaRPr>
          </a:p>
        </p:txBody>
      </p:sp>
      <p:sp>
        <p:nvSpPr>
          <p:cNvPr id="241" name="Google Shape;241;p8"/>
          <p:cNvSpPr/>
          <p:nvPr/>
        </p:nvSpPr>
        <p:spPr>
          <a:xfrm>
            <a:off x="832366" y="5710357"/>
            <a:ext cx="4163377" cy="1522095"/>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Evolve from simple heatmaps to generating full textual justifications for answers, drawing inspiration from frameworks like "MedXplain-VQA".</a:t>
            </a:r>
            <a:endParaRPr b="1" sz="2000">
              <a:solidFill>
                <a:schemeClr val="dk1"/>
              </a:solidFill>
              <a:latin typeface="Candara"/>
              <a:ea typeface="Candara"/>
              <a:cs typeface="Candara"/>
              <a:sym typeface="Candara"/>
            </a:endParaRPr>
          </a:p>
        </p:txBody>
      </p:sp>
      <p:sp>
        <p:nvSpPr>
          <p:cNvPr id="242" name="Google Shape;242;p8"/>
          <p:cNvSpPr/>
          <p:nvPr/>
        </p:nvSpPr>
        <p:spPr>
          <a:xfrm>
            <a:off x="5233425" y="4756819"/>
            <a:ext cx="1659900" cy="204900"/>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02</a:t>
            </a:r>
            <a:endParaRPr b="1" sz="2000">
              <a:solidFill>
                <a:schemeClr val="dk1"/>
              </a:solidFill>
              <a:latin typeface="Candara"/>
              <a:ea typeface="Candara"/>
              <a:cs typeface="Candara"/>
              <a:sym typeface="Candara"/>
            </a:endParaRPr>
          </a:p>
        </p:txBody>
      </p:sp>
      <p:sp>
        <p:nvSpPr>
          <p:cNvPr id="243" name="Google Shape;243;p8"/>
          <p:cNvSpPr/>
          <p:nvPr/>
        </p:nvSpPr>
        <p:spPr>
          <a:xfrm>
            <a:off x="5233511" y="5038249"/>
            <a:ext cx="4163377" cy="30480"/>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5233511" y="5218033"/>
            <a:ext cx="2798088" cy="349687"/>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3A3630"/>
              </a:buClr>
              <a:buSzPts val="2400"/>
              <a:buFont typeface="Candara"/>
              <a:buNone/>
            </a:pPr>
            <a:r>
              <a:rPr b="1" lang="en-US" sz="2400">
                <a:solidFill>
                  <a:srgbClr val="3A3630"/>
                </a:solidFill>
                <a:latin typeface="Candara"/>
                <a:ea typeface="Candara"/>
                <a:cs typeface="Candara"/>
                <a:sym typeface="Candara"/>
              </a:rPr>
              <a:t>Expand Modalities</a:t>
            </a:r>
            <a:endParaRPr b="1" sz="2400">
              <a:solidFill>
                <a:schemeClr val="dk1"/>
              </a:solidFill>
              <a:latin typeface="Candara"/>
              <a:ea typeface="Candara"/>
              <a:cs typeface="Candara"/>
              <a:sym typeface="Candara"/>
            </a:endParaRPr>
          </a:p>
        </p:txBody>
      </p:sp>
      <p:sp>
        <p:nvSpPr>
          <p:cNvPr id="245" name="Google Shape;245;p8"/>
          <p:cNvSpPr/>
          <p:nvPr/>
        </p:nvSpPr>
        <p:spPr>
          <a:xfrm>
            <a:off x="5233511" y="5710357"/>
            <a:ext cx="4163377" cy="1522095"/>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Extend the model's capabilities by training it on other critical image types such as CT scans, MRIs, and Ultrasound images.</a:t>
            </a:r>
            <a:endParaRPr b="1" sz="2000">
              <a:solidFill>
                <a:schemeClr val="dk1"/>
              </a:solidFill>
              <a:latin typeface="Candara"/>
              <a:ea typeface="Candara"/>
              <a:cs typeface="Candara"/>
              <a:sym typeface="Candara"/>
            </a:endParaRPr>
          </a:p>
        </p:txBody>
      </p:sp>
      <p:sp>
        <p:nvSpPr>
          <p:cNvPr id="246" name="Google Shape;246;p8"/>
          <p:cNvSpPr/>
          <p:nvPr/>
        </p:nvSpPr>
        <p:spPr>
          <a:xfrm>
            <a:off x="9634640" y="4664500"/>
            <a:ext cx="564600" cy="297300"/>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03</a:t>
            </a:r>
            <a:endParaRPr b="1" sz="2000">
              <a:solidFill>
                <a:schemeClr val="dk1"/>
              </a:solidFill>
              <a:latin typeface="Candara"/>
              <a:ea typeface="Candara"/>
              <a:cs typeface="Candara"/>
              <a:sym typeface="Candara"/>
            </a:endParaRPr>
          </a:p>
        </p:txBody>
      </p:sp>
      <p:sp>
        <p:nvSpPr>
          <p:cNvPr id="247" name="Google Shape;247;p8"/>
          <p:cNvSpPr/>
          <p:nvPr/>
        </p:nvSpPr>
        <p:spPr>
          <a:xfrm>
            <a:off x="9634657" y="5038249"/>
            <a:ext cx="4163377" cy="30480"/>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9634645" y="5148026"/>
            <a:ext cx="4757700" cy="4197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3A3630"/>
              </a:buClr>
              <a:buSzPts val="2400"/>
              <a:buFont typeface="Candara"/>
              <a:buNone/>
            </a:pPr>
            <a:r>
              <a:rPr b="1" lang="en-US" sz="2400">
                <a:solidFill>
                  <a:srgbClr val="3A3630"/>
                </a:solidFill>
                <a:latin typeface="Candara"/>
                <a:ea typeface="Candara"/>
                <a:cs typeface="Candara"/>
                <a:sym typeface="Candara"/>
              </a:rPr>
              <a:t>Build a Web Interface</a:t>
            </a:r>
            <a:endParaRPr b="1" sz="2400">
              <a:solidFill>
                <a:schemeClr val="dk1"/>
              </a:solidFill>
              <a:latin typeface="Candara"/>
              <a:ea typeface="Candara"/>
              <a:cs typeface="Candara"/>
              <a:sym typeface="Candara"/>
            </a:endParaRPr>
          </a:p>
        </p:txBody>
      </p:sp>
      <p:sp>
        <p:nvSpPr>
          <p:cNvPr id="249" name="Google Shape;249;p8"/>
          <p:cNvSpPr/>
          <p:nvPr/>
        </p:nvSpPr>
        <p:spPr>
          <a:xfrm>
            <a:off x="9634657" y="5710357"/>
            <a:ext cx="4163377" cy="1522095"/>
          </a:xfrm>
          <a:prstGeom prst="rect">
            <a:avLst/>
          </a:prstGeom>
          <a:noFill/>
          <a:ln>
            <a:noFill/>
          </a:ln>
        </p:spPr>
        <p:txBody>
          <a:bodyPr anchorCtr="0" anchor="t" bIns="0" lIns="0" spcFirstLastPara="1" rIns="0" wrap="square" tIns="0">
            <a:noAutofit/>
          </a:bodyPr>
          <a:lstStyle/>
          <a:p>
            <a:pPr indent="0" lvl="0" marL="0" marR="0" rtl="0" algn="l">
              <a:lnSpc>
                <a:spcPct val="147500"/>
              </a:lnSpc>
              <a:spcBef>
                <a:spcPts val="0"/>
              </a:spcBef>
              <a:spcAft>
                <a:spcPts val="0"/>
              </a:spcAft>
              <a:buClr>
                <a:srgbClr val="3A3630"/>
              </a:buClr>
              <a:buSzPts val="2000"/>
              <a:buFont typeface="Candara"/>
              <a:buNone/>
            </a:pPr>
            <a:r>
              <a:rPr b="1" lang="en-US" sz="2000">
                <a:solidFill>
                  <a:srgbClr val="3A3630"/>
                </a:solidFill>
                <a:latin typeface="Candara"/>
                <a:ea typeface="Candara"/>
                <a:cs typeface="Candara"/>
                <a:sym typeface="Candara"/>
              </a:rPr>
              <a:t>Develop a user-friendly web application where students can intuitively drag-and-drop images and input questions for seamless interaction.</a:t>
            </a:r>
            <a:endParaRPr b="1" sz="2000">
              <a:solidFill>
                <a:schemeClr val="dk1"/>
              </a:solidFill>
              <a:latin typeface="Candara"/>
              <a:ea typeface="Candara"/>
              <a:cs typeface="Candara"/>
              <a:sym typeface="Canda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preencoded.png" id="255" name="Google Shape;255;p9"/>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256" name="Google Shape;256;p9"/>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837724" y="1948220"/>
            <a:ext cx="5984438" cy="747951"/>
          </a:xfrm>
          <a:prstGeom prst="rect">
            <a:avLst/>
          </a:prstGeom>
          <a:noFill/>
          <a:ln>
            <a:noFill/>
          </a:ln>
        </p:spPr>
        <p:txBody>
          <a:bodyPr anchorCtr="0" anchor="t" bIns="0" lIns="0" spcFirstLastPara="1" rIns="0" wrap="square" tIns="0">
            <a:noAutofit/>
          </a:bodyPr>
          <a:lstStyle/>
          <a:p>
            <a:pPr indent="0" lvl="0" marL="0" marR="0" rtl="0" algn="l">
              <a:lnSpc>
                <a:spcPct val="132954"/>
              </a:lnSpc>
              <a:spcBef>
                <a:spcPts val="0"/>
              </a:spcBef>
              <a:spcAft>
                <a:spcPts val="0"/>
              </a:spcAft>
              <a:buClr>
                <a:srgbClr val="38512F"/>
              </a:buClr>
              <a:buSzPts val="4400"/>
              <a:buFont typeface="Candara"/>
              <a:buNone/>
            </a:pPr>
            <a:r>
              <a:rPr b="1" lang="en-US" sz="4400">
                <a:solidFill>
                  <a:srgbClr val="38512F"/>
                </a:solidFill>
                <a:latin typeface="Candara"/>
                <a:ea typeface="Candara"/>
                <a:cs typeface="Candara"/>
                <a:sym typeface="Candara"/>
              </a:rPr>
              <a:t>References (2025)</a:t>
            </a:r>
            <a:endParaRPr b="1" sz="4400">
              <a:solidFill>
                <a:schemeClr val="dk1"/>
              </a:solidFill>
              <a:latin typeface="Candara"/>
              <a:ea typeface="Candara"/>
              <a:cs typeface="Candara"/>
              <a:sym typeface="Candara"/>
            </a:endParaRPr>
          </a:p>
        </p:txBody>
      </p:sp>
      <p:sp>
        <p:nvSpPr>
          <p:cNvPr id="258" name="Google Shape;258;p9"/>
          <p:cNvSpPr/>
          <p:nvPr/>
        </p:nvSpPr>
        <p:spPr>
          <a:xfrm>
            <a:off x="837724" y="3077647"/>
            <a:ext cx="12954952" cy="813673"/>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2000"/>
              <a:buFont typeface="Candara"/>
              <a:buChar char="•"/>
            </a:pPr>
            <a:r>
              <a:rPr b="1" lang="en-US" sz="2000">
                <a:solidFill>
                  <a:srgbClr val="3A3630"/>
                </a:solidFill>
                <a:latin typeface="Candara"/>
                <a:ea typeface="Candara"/>
                <a:cs typeface="Candara"/>
                <a:sym typeface="Candara"/>
              </a:rPr>
              <a:t>Faria, F. T. J., et al. (2025). Analysing Diagnostic Reasoning of Vision–Language Models via Zero-Shot Chain-of-Thought Prompting in Medical Visual Question Answering. ResearchGate.</a:t>
            </a:r>
            <a:endParaRPr b="1" sz="2000">
              <a:solidFill>
                <a:schemeClr val="dk1"/>
              </a:solidFill>
              <a:latin typeface="Candara"/>
              <a:ea typeface="Candara"/>
              <a:cs typeface="Candara"/>
              <a:sym typeface="Candara"/>
            </a:endParaRPr>
          </a:p>
        </p:txBody>
      </p:sp>
      <p:sp>
        <p:nvSpPr>
          <p:cNvPr id="259" name="Google Shape;259;p9"/>
          <p:cNvSpPr/>
          <p:nvPr/>
        </p:nvSpPr>
        <p:spPr>
          <a:xfrm>
            <a:off x="837724" y="3980259"/>
            <a:ext cx="12954952" cy="406837"/>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2000"/>
              <a:buFont typeface="Candara"/>
              <a:buChar char="•"/>
            </a:pPr>
            <a:r>
              <a:rPr b="1" lang="en-US" sz="2000">
                <a:solidFill>
                  <a:srgbClr val="3A3630"/>
                </a:solidFill>
                <a:latin typeface="Candara"/>
                <a:ea typeface="Candara"/>
                <a:cs typeface="Candara"/>
                <a:sym typeface="Candara"/>
              </a:rPr>
              <a:t>Gautam, S., et al. (2025). Medico 2025: Visual Question Answering for Gastrointestinal Imaging. arXiv:2508.10869.</a:t>
            </a:r>
            <a:endParaRPr b="1" sz="2000">
              <a:solidFill>
                <a:schemeClr val="dk1"/>
              </a:solidFill>
              <a:latin typeface="Candara"/>
              <a:ea typeface="Candara"/>
              <a:cs typeface="Candara"/>
              <a:sym typeface="Candara"/>
            </a:endParaRPr>
          </a:p>
        </p:txBody>
      </p:sp>
      <p:sp>
        <p:nvSpPr>
          <p:cNvPr id="260" name="Google Shape;260;p9"/>
          <p:cNvSpPr/>
          <p:nvPr/>
        </p:nvSpPr>
        <p:spPr>
          <a:xfrm>
            <a:off x="837725" y="4387101"/>
            <a:ext cx="13792800" cy="495900"/>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2000"/>
              <a:buFont typeface="Candara"/>
              <a:buChar char="•"/>
            </a:pPr>
            <a:r>
              <a:rPr b="1" lang="en-US" sz="2000">
                <a:solidFill>
                  <a:srgbClr val="3A3630"/>
                </a:solidFill>
                <a:latin typeface="Candara"/>
                <a:ea typeface="Candara"/>
                <a:cs typeface="Candara"/>
                <a:sym typeface="Candara"/>
              </a:rPr>
              <a:t>Liu, Z., et al. (2025). R-LLaVA: Improving Med-VQA Understanding through Visual Region of Interest. arXiv:2410.20327v4.</a:t>
            </a:r>
            <a:endParaRPr b="1" sz="2000">
              <a:solidFill>
                <a:schemeClr val="dk1"/>
              </a:solidFill>
              <a:latin typeface="Candara"/>
              <a:ea typeface="Candara"/>
              <a:cs typeface="Candara"/>
              <a:sym typeface="Candara"/>
            </a:endParaRPr>
          </a:p>
        </p:txBody>
      </p:sp>
      <p:sp>
        <p:nvSpPr>
          <p:cNvPr id="261" name="Google Shape;261;p9"/>
          <p:cNvSpPr/>
          <p:nvPr/>
        </p:nvSpPr>
        <p:spPr>
          <a:xfrm>
            <a:off x="837724" y="4971812"/>
            <a:ext cx="12954952" cy="406837"/>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2000"/>
              <a:buFont typeface="Candara"/>
              <a:buChar char="•"/>
            </a:pPr>
            <a:r>
              <a:rPr b="1" lang="en-US" sz="2000">
                <a:solidFill>
                  <a:srgbClr val="3A3630"/>
                </a:solidFill>
                <a:latin typeface="Candara"/>
                <a:ea typeface="Candara"/>
                <a:cs typeface="Candara"/>
                <a:sym typeface="Candara"/>
              </a:rPr>
              <a:t>Tariq, A., et al. (2025). Multimodal artificial intelligence models for radiology. BJR|Artificial Intelligence, 2(1).</a:t>
            </a:r>
            <a:endParaRPr b="1" sz="2000">
              <a:solidFill>
                <a:schemeClr val="dk1"/>
              </a:solidFill>
              <a:latin typeface="Candara"/>
              <a:ea typeface="Candara"/>
              <a:cs typeface="Candara"/>
              <a:sym typeface="Candara"/>
            </a:endParaRPr>
          </a:p>
        </p:txBody>
      </p:sp>
      <p:sp>
        <p:nvSpPr>
          <p:cNvPr id="262" name="Google Shape;262;p9"/>
          <p:cNvSpPr/>
          <p:nvPr/>
        </p:nvSpPr>
        <p:spPr>
          <a:xfrm>
            <a:off x="837724" y="5467588"/>
            <a:ext cx="12954952" cy="813673"/>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2000"/>
              <a:buFont typeface="Candara"/>
              <a:buChar char="•"/>
            </a:pPr>
            <a:r>
              <a:rPr b="1" lang="en-US" sz="2000">
                <a:solidFill>
                  <a:srgbClr val="3A3630"/>
                </a:solidFill>
                <a:latin typeface="Candara"/>
                <a:ea typeface="Candara"/>
                <a:cs typeface="Candara"/>
                <a:sym typeface="Candara"/>
              </a:rPr>
              <a:t>Zhang, C., et al. (2025). Bridging the Semantic Gap in Medical Visual Question Answering with Prompt Learning. IEEE Transactions on Medical Imaging.</a:t>
            </a:r>
            <a:endParaRPr b="1" sz="2000">
              <a:solidFill>
                <a:schemeClr val="dk1"/>
              </a:solidFill>
              <a:latin typeface="Candara"/>
              <a:ea typeface="Candara"/>
              <a:cs typeface="Candara"/>
              <a:sym typeface="Canda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descr="preencoded.png" id="268" name="Google Shape;268;p10"/>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269" name="Google Shape;269;p10"/>
          <p:cNvSpPr/>
          <p:nvPr/>
        </p:nvSpPr>
        <p:spPr>
          <a:xfrm>
            <a:off x="0" y="0"/>
            <a:ext cx="14630400" cy="8229600"/>
          </a:xfrm>
          <a:prstGeom prst="rect">
            <a:avLst/>
          </a:prstGeom>
          <a:solidFill>
            <a:srgbClr val="FEF5E7">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837724" y="2794635"/>
            <a:ext cx="12954952" cy="264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38512F"/>
              </a:buClr>
              <a:buSzPts val="16600"/>
              <a:buFont typeface="Candara"/>
              <a:buNone/>
            </a:pPr>
            <a:r>
              <a:rPr b="1" i="1" lang="en-US" sz="16600">
                <a:solidFill>
                  <a:srgbClr val="38512F"/>
                </a:solidFill>
                <a:latin typeface="Candara"/>
                <a:ea typeface="Candara"/>
                <a:cs typeface="Candara"/>
                <a:sym typeface="Candara"/>
              </a:rPr>
              <a:t>Thank You</a:t>
            </a:r>
            <a:endParaRPr b="1" i="1" sz="16600">
              <a:solidFill>
                <a:schemeClr val="dk1"/>
              </a:solidFill>
              <a:latin typeface="Candara"/>
              <a:ea typeface="Candara"/>
              <a:cs typeface="Candara"/>
              <a:sym typeface="Candar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2025-11-17T07:13:45Z</dcterms:created>
</cp:coreProperties>
</file>